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470000"/>
            <a:ext cx="7600000" cy="2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GENESIS PROGRAM • FUNDING DECK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1300000"/>
            <a:ext cx="6500000" cy="10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4000" b="1" i="0">
                <a:solidFill>
                  <a:srgbClr val="F2F7F5"/>
                </a:solidFill>
                <a:latin typeface="Aptos"/>
              </a:rPr>
              <a:t>Make every</a:t>
            </a:r>
            <a:endParaRPr lang="en-US" sz="4000"/>
          </a:p>
          <a:p>
            <a:r>
              <a:rPr lang="en-US" sz="4000" b="1" i="0">
                <a:solidFill>
                  <a:srgbClr val="F2F7F5"/>
                </a:solidFill>
                <a:latin typeface="Aptos"/>
              </a:rPr>
              <a:t>AI token count.</a:t>
            </a:r>
            <a:endParaRPr lang="en-US" sz="4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2700000"/>
            <a:ext cx="57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900" b="0" i="0">
                <a:solidFill>
                  <a:srgbClr val="A9BBC0"/>
                </a:solidFill>
                <a:latin typeface="Aptos"/>
              </a:rPr>
              <a:t>TrimToken AI is the intelligent gateway that routes each request to the best-fit model for quality, latency, and cost.</a:t>
            </a:r>
            <a:endParaRPr lang="en-US" sz="1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4600000"/>
            <a:ext cx="4700000" cy="5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FC857"/>
                </a:solidFill>
                <a:latin typeface="Aptos"/>
              </a:rPr>
              <a:t>A practical response to one question:</a:t>
            </a:r>
            <a:endParaRPr lang="en-US" sz="1800"/>
          </a:p>
          <a:p>
            <a:r>
              <a:rPr lang="en-US" sz="1800" b="1" i="0">
                <a:solidFill>
                  <a:srgbClr val="FFC857"/>
                </a:solidFill>
                <a:latin typeface="Aptos"/>
              </a:rPr>
              <a:t>Why pay frontier-model prices for every prompt?</a:t>
            </a:r>
            <a:endParaRPr lang="en-US" sz="18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8000000" y="1750000"/>
            <a:ext cx="900000" cy="900000"/>
          </a:xfrm>
          <a:solidFill>
            <a:srgbClr val="43D9FF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000000" y="2050000"/>
            <a:ext cx="9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0B1118"/>
                </a:solidFill>
                <a:latin typeface="Aptos"/>
              </a:rPr>
              <a:t>PROMPT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9550000" y="3050000"/>
            <a:ext cx="900000" cy="900000"/>
          </a:xfrm>
          <a:solidFill>
            <a:srgbClr val="42F5B5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9550000" y="3350000"/>
            <a:ext cx="9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0B1118"/>
                </a:solidFill>
                <a:latin typeface="Aptos"/>
              </a:rPr>
              <a:t>ROUTE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8000000" y="4350000"/>
            <a:ext cx="900000" cy="900000"/>
          </a:xfrm>
          <a:solidFill>
            <a:srgbClr val="FFC857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000000" y="4650000"/>
            <a:ext cx="9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0B1118"/>
                </a:solidFill>
                <a:latin typeface="Aptos"/>
              </a:rPr>
              <a:t>SAVE</a:t>
            </a:r>
            <a:endParaRPr lang="en-US" sz="1400"/>
          </a:p>
        </p:txBody>
      </p:sp>
      <p:cxnSp>
        <p:nvCxnSpPr>
          <p:cNvPr id="0" name="Connector"/>
          <p:cNvCxnSpPr/>
          <p:nvPr/>
        </p:nvCxnSpPr>
        <p:spPr>
          <a:xfrm>
            <a:off x="8650000" y="2450000"/>
            <a:ext cx="1200000" cy="750000"/>
          </a:xfrm>
          <a:prstGeom prst="line">
            <a:avLst/>
          </a:prstGeom>
          <a:ln w="38100">
            <a:solidFill>
              <a:srgbClr val="43D9FF"/>
            </a:solidFill>
          </a:ln>
        </p:spPr>
      </p:cxnSp>
      <p:cxnSp>
        <p:nvCxnSpPr>
          <p:cNvPr id="0" name="Connector"/>
          <p:cNvCxnSpPr/>
          <p:nvPr/>
        </p:nvCxnSpPr>
        <p:spPr>
          <a:xfrm>
            <a:off x="9850000" y="3950000"/>
            <a:ext cx="-1200000" cy="700000"/>
          </a:xfrm>
          <a:prstGeom prst="line">
            <a:avLst/>
          </a:prstGeom>
          <a:ln w="38100">
            <a:solidFill>
              <a:srgbClr val="42F5B5"/>
            </a:solidFill>
          </a:ln>
        </p:spPr>
      </p:cxnSp>
      <p:cxnSp>
        <p:nvCxnSpPr>
          <p:cNvPr id="0" name="Connector"/>
          <p:cNvCxnSpPr/>
          <p:nvPr/>
        </p:nvCxnSpPr>
        <p:spPr>
          <a:xfrm>
            <a:off x="8450000" y="4350000"/>
            <a:ext cx="0" cy="-1700000"/>
          </a:xfrm>
          <a:prstGeom prst="line">
            <a:avLst/>
          </a:prstGeom>
          <a:ln w="38100">
            <a:solidFill>
              <a:srgbClr val="FFC857"/>
            </a:solidFill>
          </a:ln>
        </p:spPr>
      </p:cxnSp>
      <p:sp>
        <p:nvSpPr>
          <p:cNvPr id="0" name="Text"/>
          <p:cNvSpPr/>
          <p:nvPr>
            <p:txBox/>
          </p:nvPr>
        </p:nvSpPr>
        <p:spPr>
          <a:xfrm>
            <a:off x="7450000" y="5450000"/>
            <a:ext cx="3500000" cy="4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600" b="1" i="0">
                <a:solidFill>
                  <a:srgbClr val="F2F7F5"/>
                </a:solidFill>
                <a:latin typeface="Aptos"/>
              </a:rPr>
              <a:t>TrimToken AI</a:t>
            </a:r>
            <a:endParaRPr lang="en-US" sz="1600"/>
          </a:p>
          <a:p>
            <a:r>
              <a:rPr lang="en-US" sz="1600" b="1" i="0">
                <a:solidFill>
                  <a:srgbClr val="F2F7F5"/>
                </a:solidFill>
                <a:latin typeface="Aptos"/>
              </a:rPr>
              <a:t>Investor overview</a:t>
            </a:r>
            <a:endParaRPr lang="en-US" sz="16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01 • WHY NOW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The AI cost problem is becoming a systems problem.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02 / 08</a:t>
            </a:r>
            <a:endParaRPr lang="en-US" sz="11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1550000"/>
            <a:ext cx="5200000" cy="3450000"/>
          </a:xfrm>
          <a:solidFill>
            <a:srgbClr val="131E28"/>
          </a:solidFill>
          <a:ln w="12700">
            <a:solidFill>
              <a:srgbClr val="182733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50000" y="1830000"/>
            <a:ext cx="4500000" cy="4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400" b="1" i="0">
                <a:solidFill>
                  <a:srgbClr val="F2F7F5"/>
                </a:solidFill>
                <a:latin typeface="Aptos"/>
              </a:rPr>
              <a:t>Teams are adding AI faster</a:t>
            </a:r>
            <a:endParaRPr lang="en-US" sz="2400"/>
          </a:p>
          <a:p>
            <a:r>
              <a:rPr lang="en-US" sz="2400" b="1" i="0">
                <a:solidFill>
                  <a:srgbClr val="F2F7F5"/>
                </a:solidFill>
                <a:latin typeface="Aptos"/>
              </a:rPr>
              <a:t>than they can control spend.</a:t>
            </a:r>
            <a:endParaRPr lang="en-US" sz="2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50000" y="2700000"/>
            <a:ext cx="5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01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2670000"/>
            <a:ext cx="3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500" b="1" i="0">
                <a:solidFill>
                  <a:srgbClr val="F2F7F5"/>
                </a:solidFill>
                <a:latin typeface="Aptos"/>
              </a:rPr>
              <a:t>One-size-fits-all model selection</a:t>
            </a:r>
            <a:endParaRPr lang="en-US" sz="15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2970000"/>
            <a:ext cx="37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0" i="0">
                <a:solidFill>
                  <a:srgbClr val="A9BBC0"/>
                </a:solidFill>
                <a:latin typeface="Aptos"/>
              </a:rPr>
              <a:t>Simple requests are often sent to expensive frontier models.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50000" y="3440000"/>
            <a:ext cx="5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02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3410000"/>
            <a:ext cx="3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500" b="1" i="0">
                <a:solidFill>
                  <a:srgbClr val="F2F7F5"/>
                </a:solidFill>
                <a:latin typeface="Aptos"/>
              </a:rPr>
              <a:t>Prices and capabilities keep moving</a:t>
            </a:r>
            <a:endParaRPr lang="en-US" sz="15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3710000"/>
            <a:ext cx="37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0" i="0">
                <a:solidFill>
                  <a:srgbClr val="A9BBC0"/>
                </a:solidFill>
                <a:latin typeface="Aptos"/>
              </a:rPr>
              <a:t>Provider pricing, latency, and quality change constantly.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50000" y="4180000"/>
            <a:ext cx="5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03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4150000"/>
            <a:ext cx="3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500" b="1" i="0">
                <a:solidFill>
                  <a:srgbClr val="F2F7F5"/>
                </a:solidFill>
                <a:latin typeface="Aptos"/>
              </a:rPr>
              <a:t>Developers need a drop-in path</a:t>
            </a:r>
            <a:endParaRPr lang="en-US" sz="15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450000" y="4450000"/>
            <a:ext cx="37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0" i="0">
                <a:solidFill>
                  <a:srgbClr val="A9BBC0"/>
                </a:solidFill>
                <a:latin typeface="Aptos"/>
              </a:rPr>
              <a:t>Cost optimization cannot require rewriting every AI product.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6300000" y="1650000"/>
            <a:ext cx="48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FFC857"/>
                </a:solidFill>
                <a:latin typeface="Aptos Mono"/>
              </a:rPr>
              <a:t>Our insight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6300000" y="2100000"/>
            <a:ext cx="4600000" cy="11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500" b="1" i="0">
                <a:solidFill>
                  <a:srgbClr val="F2F7F5"/>
                </a:solidFill>
                <a:latin typeface="Aptos"/>
              </a:rPr>
              <a:t>The best model is not always the biggest model.</a:t>
            </a:r>
            <a:endParaRPr lang="en-US" sz="2500"/>
          </a:p>
          <a:p>
            <a:r>
              <a:rPr lang="en-US" sz="2500" b="1" i="0">
                <a:solidFill>
                  <a:srgbClr val="F2F7F5"/>
                </a:solidFill>
                <a:latin typeface="Aptos"/>
              </a:rPr>
              <a:t>It is the model that meets the task’s quality bar at the lowest total cost.</a:t>
            </a:r>
            <a:endParaRPr lang="en-US" sz="25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6300000" y="3750000"/>
            <a:ext cx="4700000" cy="1050000"/>
          </a:xfrm>
          <a:solidFill>
            <a:srgbClr val="182733"/>
          </a:solidFill>
          <a:ln w="12700">
            <a:solidFill>
              <a:srgbClr val="43D9FF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6600000" y="4020000"/>
            <a:ext cx="4100000" cy="5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43D9FF"/>
                </a:solidFill>
                <a:latin typeface="Aptos"/>
              </a:rPr>
              <a:t>TrimToken turns model choice into an</a:t>
            </a:r>
            <a:endParaRPr lang="en-US" sz="1800"/>
          </a:p>
          <a:p>
            <a:r>
              <a:rPr lang="en-US" sz="1800" b="1" i="0">
                <a:solidFill>
                  <a:srgbClr val="43D9FF"/>
                </a:solidFill>
                <a:latin typeface="Aptos"/>
              </a:rPr>
              <a:t>always-on optimization layer.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02 • THE PRODUCT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TrimToken AI: an intelligent control plane for LLM traffic.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03 / 08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1450000"/>
            <a:ext cx="10800000" cy="5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0" i="0">
                <a:solidFill>
                  <a:srgbClr val="A9BBC0"/>
                </a:solidFill>
                <a:latin typeface="Aptos"/>
              </a:rPr>
              <a:t>A gateway that classifies each query, compares live model economics, and dispatches to the best-fit provider.</a:t>
            </a:r>
            <a:endParaRPr lang="en-US" sz="21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2450000"/>
            <a:ext cx="3000000" cy="2350000"/>
          </a:xfrm>
          <a:solidFill>
            <a:srgbClr val="131E28"/>
          </a:solidFill>
          <a:ln w="12700">
            <a:solidFill>
              <a:srgbClr val="43D9FF"/>
            </a:solidFill>
          </a:ln>
        </p:spPr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820000" y="2770000"/>
            <a:ext cx="450000" cy="450000"/>
          </a:xfrm>
          <a:solidFill>
            <a:srgbClr val="43D9FF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20000" y="2920000"/>
            <a:ext cx="450000" cy="1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20000" y="3450000"/>
            <a:ext cx="24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2F7F5"/>
                </a:solidFill>
                <a:latin typeface="Aptos"/>
              </a:rPr>
              <a:t>Query intelligence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20000" y="3900000"/>
            <a:ext cx="24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Fine-tuned Qwen routing classifier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scores complexity in sub-millisecond time.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4200000" y="2450000"/>
            <a:ext cx="3000000" cy="2350000"/>
          </a:xfrm>
          <a:solidFill>
            <a:srgbClr val="131E28"/>
          </a:solidFill>
          <a:ln w="12700">
            <a:solidFill>
              <a:srgbClr val="FFC857"/>
            </a:solidFill>
          </a:ln>
        </p:spPr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4460000" y="2770000"/>
            <a:ext cx="450000" cy="450000"/>
          </a:xfrm>
          <a:solidFill>
            <a:srgbClr val="FFC857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4460000" y="2920000"/>
            <a:ext cx="450000" cy="1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460000" y="3450000"/>
            <a:ext cx="24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2F7F5"/>
                </a:solidFill>
                <a:latin typeface="Aptos"/>
              </a:rPr>
              <a:t>Price-aware routing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460000" y="3900000"/>
            <a:ext cx="24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Pareto utility balances quality,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latency, and cost in real time.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840000" y="2450000"/>
            <a:ext cx="3000000" cy="2350000"/>
          </a:xfrm>
          <a:solidFill>
            <a:srgbClr val="131E28"/>
          </a:solidFill>
          <a:ln w="12700">
            <a:solidFill>
              <a:srgbClr val="42F5B5"/>
            </a:solidFill>
          </a:ln>
        </p:spPr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8100000" y="2770000"/>
            <a:ext cx="450000" cy="450000"/>
          </a:xfrm>
          <a:solidFill>
            <a:srgbClr val="42F5B5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100000" y="2920000"/>
            <a:ext cx="450000" cy="1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100000" y="3450000"/>
            <a:ext cx="24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2F7F5"/>
                </a:solidFill>
                <a:latin typeface="Aptos"/>
              </a:rPr>
              <a:t>Production resilience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100000" y="3900000"/>
            <a:ext cx="24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OpenAI-compatible API, failover mesh,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and observability built in.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5350000"/>
            <a:ext cx="10200000" cy="4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FC857"/>
                </a:solidFill>
                <a:latin typeface="Aptos"/>
              </a:rPr>
              <a:t>Designed for enterprise AI teams that need lower spend without sacrificing the user experience.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03 • HOW IT WORKS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From prompt to outcome in four routing decisions.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04 / 08</a:t>
            </a:r>
            <a:endParaRPr lang="en-US" sz="11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00000" y="1650000"/>
            <a:ext cx="650000" cy="650000"/>
          </a:xfrm>
          <a:solidFill>
            <a:srgbClr val="43D9FF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00000" y="186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1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1690000"/>
            <a:ext cx="23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F2F7F5"/>
                </a:solidFill>
                <a:latin typeface="Aptos"/>
              </a:rPr>
              <a:t>Ingest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2040000"/>
            <a:ext cx="34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Standard OpenAI-compatible request enters the gateway.</a:t>
            </a:r>
            <a:endParaRPr lang="en-US" sz="1300"/>
          </a:p>
        </p:txBody>
      </p:sp>
      <p:cxnSp>
        <p:nvCxnSpPr>
          <p:cNvPr id="0" name="Connector"/>
          <p:cNvCxnSpPr/>
          <p:nvPr/>
        </p:nvCxnSpPr>
        <p:spPr>
          <a:xfrm>
            <a:off x="1025000" y="2300000"/>
            <a:ext cx="0" cy="330000"/>
          </a:xfrm>
          <a:prstGeom prst="line">
            <a:avLst/>
          </a:prstGeom>
          <a:ln w="63500">
            <a:solidFill>
              <a:srgbClr val="182733"/>
            </a:solidFill>
          </a:ln>
        </p:spPr>
      </p:cxn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00000" y="2750000"/>
            <a:ext cx="650000" cy="650000"/>
          </a:xfrm>
          <a:solidFill>
            <a:srgbClr val="B18CFF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00000" y="296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2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2790000"/>
            <a:ext cx="23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F2F7F5"/>
                </a:solidFill>
                <a:latin typeface="Aptos"/>
              </a:rPr>
              <a:t>Classify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3140000"/>
            <a:ext cx="34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Query is labeled: simple, extraction, reasoning, code, or complex.</a:t>
            </a:r>
            <a:endParaRPr lang="en-US" sz="1300"/>
          </a:p>
        </p:txBody>
      </p:sp>
      <p:cxnSp>
        <p:nvCxnSpPr>
          <p:cNvPr id="0" name="Connector"/>
          <p:cNvCxnSpPr/>
          <p:nvPr/>
        </p:nvCxnSpPr>
        <p:spPr>
          <a:xfrm>
            <a:off x="1025000" y="3400000"/>
            <a:ext cx="0" cy="330000"/>
          </a:xfrm>
          <a:prstGeom prst="line">
            <a:avLst/>
          </a:prstGeom>
          <a:ln w="63500">
            <a:solidFill>
              <a:srgbClr val="182733"/>
            </a:solidFill>
          </a:ln>
        </p:spPr>
      </p:cxn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00000" y="3850000"/>
            <a:ext cx="650000" cy="650000"/>
          </a:xfrm>
          <a:solidFill>
            <a:srgbClr val="FFC857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00000" y="406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3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3890000"/>
            <a:ext cx="23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F2F7F5"/>
                </a:solidFill>
                <a:latin typeface="Aptos"/>
              </a:rPr>
              <a:t>Optimize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4240000"/>
            <a:ext cx="34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Live pricing and policy constraints produce a Pareto-ranked shortlist.</a:t>
            </a:r>
            <a:endParaRPr lang="en-US" sz="1300"/>
          </a:p>
        </p:txBody>
      </p:sp>
      <p:cxnSp>
        <p:nvCxnSpPr>
          <p:cNvPr id="0" name="Connector"/>
          <p:cNvCxnSpPr/>
          <p:nvPr/>
        </p:nvCxnSpPr>
        <p:spPr>
          <a:xfrm>
            <a:off x="1025000" y="4500000"/>
            <a:ext cx="0" cy="330000"/>
          </a:xfrm>
          <a:prstGeom prst="line">
            <a:avLst/>
          </a:prstGeom>
          <a:ln w="63500">
            <a:solidFill>
              <a:srgbClr val="182733"/>
            </a:solidFill>
          </a:ln>
        </p:spPr>
      </p:cxn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00000" y="4950000"/>
            <a:ext cx="650000" cy="650000"/>
          </a:xfrm>
          <a:solidFill>
            <a:srgbClr val="42F5B5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00000" y="516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4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4990000"/>
            <a:ext cx="23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F2F7F5"/>
                </a:solidFill>
                <a:latin typeface="Aptos"/>
              </a:rPr>
              <a:t>Execute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650000" y="5340000"/>
            <a:ext cx="34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Best-fit model responds; failover protects reliability.</a:t>
            </a:r>
            <a:endParaRPr lang="en-US" sz="13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6200000" y="1650000"/>
            <a:ext cx="4600000" cy="3950000"/>
          </a:xfrm>
          <a:solidFill>
            <a:srgbClr val="131E28"/>
          </a:solidFill>
          <a:ln w="12700">
            <a:solidFill>
              <a:srgbClr val="182733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6550000" y="1950000"/>
            <a:ext cx="3900000" cy="3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Routing policy example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6550000" y="2450000"/>
            <a:ext cx="3900000" cy="74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500" b="1" i="0">
                <a:solidFill>
                  <a:srgbClr val="F2F7F5"/>
                </a:solidFill>
                <a:latin typeface="Aptos"/>
              </a:rPr>
              <a:t>If a request is simple,</a:t>
            </a:r>
            <a:endParaRPr lang="en-US" sz="2500"/>
          </a:p>
          <a:p>
            <a:r>
              <a:rPr lang="en-US" sz="2500" b="1" i="0">
                <a:solidFill>
                  <a:srgbClr val="F2F7F5"/>
                </a:solidFill>
                <a:latin typeface="Aptos"/>
              </a:rPr>
              <a:t>choose the lowest-cost model</a:t>
            </a:r>
            <a:endParaRPr lang="en-US" sz="2500"/>
          </a:p>
          <a:p>
            <a:r>
              <a:rPr lang="en-US" sz="2500" b="1" i="0">
                <a:solidFill>
                  <a:srgbClr val="F2F7F5"/>
                </a:solidFill>
                <a:latin typeface="Aptos"/>
              </a:rPr>
              <a:t>that clears the quality threshold.</a:t>
            </a:r>
            <a:endParaRPr lang="en-US" sz="25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6550000" y="3650000"/>
            <a:ext cx="3900000" cy="8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500" b="0" i="0">
                <a:solidFill>
                  <a:srgbClr val="A9BBC0"/>
                </a:solidFill>
                <a:latin typeface="Aptos"/>
              </a:rPr>
              <a:t>If the request requires deep reasoning or code,</a:t>
            </a:r>
            <a:endParaRPr lang="en-US" sz="1500"/>
          </a:p>
          <a:p>
            <a:r>
              <a:rPr lang="en-US" sz="1500" b="0" i="0">
                <a:solidFill>
                  <a:srgbClr val="A9BBC0"/>
                </a:solidFill>
                <a:latin typeface="Aptos"/>
              </a:rPr>
              <a:t>route up the model spectrum only when needed.</a:t>
            </a:r>
            <a:endParaRPr lang="en-US" sz="15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6550000" y="4750000"/>
            <a:ext cx="3900000" cy="450000"/>
          </a:xfrm>
          <a:solidFill>
            <a:srgbClr val="20313A"/>
          </a:solidFill>
          <a:ln w="12700">
            <a:solidFill>
              <a:srgbClr val="43D9FF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6700000" y="4860000"/>
            <a:ext cx="3600000" cy="2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3D9FF"/>
                </a:solidFill>
                <a:latin typeface="Aptos Mono"/>
              </a:rPr>
              <a:t>QUALITY BAR  +  COST CEILING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04 • CUSTOMER VALUE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Why customers pay: measurable savings, not another model.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05 / 08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1480000"/>
            <a:ext cx="10600000" cy="4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0" i="0">
                <a:solidFill>
                  <a:srgbClr val="A9BBC0"/>
                </a:solidFill>
                <a:latin typeface="Aptos"/>
              </a:rPr>
              <a:t>TrimToken sits between the application and model providers, creating a measurable cost and reliability layer.</a:t>
            </a:r>
            <a:endParaRPr lang="en-US" sz="20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2350000"/>
            <a:ext cx="3000000" cy="1650000"/>
          </a:xfrm>
          <a:solidFill>
            <a:srgbClr val="131E28"/>
          </a:solidFill>
          <a:ln w="12700">
            <a:solidFill>
              <a:srgbClr val="42F5B5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90000" y="2700000"/>
            <a:ext cx="2550000" cy="4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42F5B5"/>
                </a:solidFill>
                <a:latin typeface="Aptos"/>
              </a:rPr>
              <a:t>UP TO 70%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90000" y="3370000"/>
            <a:ext cx="2500000" cy="3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F2F7F5"/>
                </a:solidFill>
                <a:latin typeface="Aptos"/>
              </a:rPr>
              <a:t>targeted reduction in enterprise LLM API overhead</a:t>
            </a:r>
            <a:endParaRPr lang="en-US" sz="13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4100000" y="2350000"/>
            <a:ext cx="3000000" cy="1650000"/>
          </a:xfrm>
          <a:solidFill>
            <a:srgbClr val="131E28"/>
          </a:solidFill>
          <a:ln w="12700">
            <a:solidFill>
              <a:srgbClr val="43D9FF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4330000" y="2700000"/>
            <a:ext cx="2550000" cy="4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43D9FF"/>
                </a:solidFill>
                <a:latin typeface="Aptos"/>
              </a:rPr>
              <a:t>&lt; 1.2 ms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330000" y="3370000"/>
            <a:ext cx="2500000" cy="3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F2F7F5"/>
                </a:solidFill>
                <a:latin typeface="Aptos"/>
              </a:rPr>
              <a:t>routing-classifier latency target</a:t>
            </a:r>
            <a:endParaRPr lang="en-US" sz="13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640000" y="2350000"/>
            <a:ext cx="3000000" cy="1650000"/>
          </a:xfrm>
          <a:solidFill>
            <a:srgbClr val="131E28"/>
          </a:solidFill>
          <a:ln w="12700">
            <a:solidFill>
              <a:srgbClr val="FFC857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870000" y="2700000"/>
            <a:ext cx="2550000" cy="4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FC857"/>
                </a:solidFill>
                <a:latin typeface="Aptos"/>
              </a:rPr>
              <a:t>1-line swap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870000" y="3370000"/>
            <a:ext cx="2500000" cy="3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F2F7F5"/>
                </a:solidFill>
                <a:latin typeface="Aptos"/>
              </a:rPr>
              <a:t>OpenAI-compatible gateway integration</a:t>
            </a:r>
            <a:endParaRPr lang="en-US" sz="13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4500000"/>
            <a:ext cx="10080000" cy="950000"/>
          </a:xfrm>
          <a:solidFill>
            <a:srgbClr val="182733"/>
          </a:solidFill>
          <a:ln w="12700">
            <a:solidFill>
              <a:srgbClr val="182733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50000" y="4770000"/>
            <a:ext cx="9450000" cy="4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900" b="1" i="0">
                <a:solidFill>
                  <a:srgbClr val="F2F7F5"/>
                </a:solidFill>
                <a:latin typeface="Aptos"/>
              </a:rPr>
              <a:t>The economic moat is the routing data: every query improves policy, benchmarks, and model economics.</a:t>
            </a:r>
            <a:endParaRPr lang="en-US" sz="1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05 • HOW WE MAKE MONEY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A recurring SaaS model aligned with customer savings.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06 / 08</a:t>
            </a:r>
            <a:endParaRPr lang="en-US" sz="11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1900000"/>
            <a:ext cx="3000000" cy="2650000"/>
          </a:xfrm>
          <a:solidFill>
            <a:srgbClr val="131E28"/>
          </a:solidFill>
          <a:ln w="12700">
            <a:solidFill>
              <a:srgbClr val="43D9FF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20000" y="222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43D9FF"/>
                </a:solidFill>
                <a:latin typeface="Aptos"/>
              </a:rPr>
              <a:t>Gateway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20000" y="268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F2F7F5"/>
                </a:solidFill>
                <a:latin typeface="Aptos Mono"/>
              </a:rPr>
              <a:t>Usage-based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20000" y="3250000"/>
            <a:ext cx="2450000" cy="6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Per-request fee or percentage of savings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for teams getting started.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4200000" y="1900000"/>
            <a:ext cx="3000000" cy="2650000"/>
          </a:xfrm>
          <a:solidFill>
            <a:srgbClr val="131E28"/>
          </a:solidFill>
          <a:ln w="12700">
            <a:solidFill>
              <a:srgbClr val="42F5B5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4460000" y="222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42F5B5"/>
                </a:solidFill>
                <a:latin typeface="Aptos"/>
              </a:rPr>
              <a:t>Scale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460000" y="268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F2F7F5"/>
                </a:solidFill>
                <a:latin typeface="Aptos Mono"/>
              </a:rPr>
              <a:t>Platform subscription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460000" y="3250000"/>
            <a:ext cx="2450000" cy="6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Monthly plan for routing policies,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analytics, budgets, and team controls.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840000" y="1900000"/>
            <a:ext cx="3000000" cy="2650000"/>
          </a:xfrm>
          <a:solidFill>
            <a:srgbClr val="131E28"/>
          </a:solidFill>
          <a:ln w="12700">
            <a:solidFill>
              <a:srgbClr val="FFC857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100000" y="222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FFC857"/>
                </a:solidFill>
                <a:latin typeface="Aptos"/>
              </a:rPr>
              <a:t>Enterprise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100000" y="2680000"/>
            <a:ext cx="245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F2F7F5"/>
                </a:solidFill>
                <a:latin typeface="Aptos Mono"/>
              </a:rPr>
              <a:t>Annual contract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8100000" y="3250000"/>
            <a:ext cx="2450000" cy="6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Private deployment, SLAs, custom policies,</a:t>
            </a:r>
            <a:endParaRPr lang="en-US" sz="1400"/>
          </a:p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security reviews, and support.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5100000"/>
            <a:ext cx="10200000" cy="5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800" b="1" i="0">
                <a:solidFill>
                  <a:srgbClr val="F2F7F5"/>
                </a:solidFill>
                <a:latin typeface="Aptos"/>
              </a:rPr>
              <a:t>The more traffic a customer routes, the more value we create — and the more recurring revenue we earn.</a:t>
            </a:r>
            <a:endParaRPr lang="en-US" sz="18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5700000"/>
            <a:ext cx="102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1" i="0">
                <a:solidFill>
                  <a:srgbClr val="FFC857"/>
                </a:solidFill>
                <a:latin typeface="Aptos Mono"/>
              </a:rPr>
              <a:t>Expansion path: observability → governance → private routing models → multi-cloud optimization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06 • THE FUNDING CASE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Genesis can help us turn a working prototype into a category platform.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07 / 08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1500000"/>
            <a:ext cx="5100000" cy="6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F2F7F5"/>
                </a:solidFill>
                <a:latin typeface="Aptos"/>
              </a:rPr>
              <a:t>We are seeking Genesis support to validate the product with design partners and build the data moat around cost-aware routing.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2250000"/>
            <a:ext cx="800000" cy="3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42F5B5"/>
                </a:solidFill>
                <a:latin typeface="Aptos Mono"/>
              </a:rPr>
              <a:t>40%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2250000"/>
            <a:ext cx="34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700" b="1" i="0">
                <a:solidFill>
                  <a:srgbClr val="F2F7F5"/>
                </a:solidFill>
                <a:latin typeface="Aptos"/>
              </a:rPr>
              <a:t>Pilot deployments</a:t>
            </a:r>
            <a:endParaRPr lang="en-US" sz="17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2610000"/>
            <a:ext cx="3900000" cy="4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Ship integrations with AI-native startups and enterprise teams.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3070000"/>
            <a:ext cx="800000" cy="3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42F5B5"/>
                </a:solidFill>
                <a:latin typeface="Aptos Mono"/>
              </a:rPr>
              <a:t>30%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3070000"/>
            <a:ext cx="34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700" b="1" i="0">
                <a:solidFill>
                  <a:srgbClr val="F2F7F5"/>
                </a:solidFill>
                <a:latin typeface="Aptos"/>
              </a:rPr>
              <a:t>Routing intelligence</a:t>
            </a:r>
            <a:endParaRPr lang="en-US" sz="17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3430000"/>
            <a:ext cx="3900000" cy="4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Expand benchmarks, policies, and fine-tuned routing models.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3890000"/>
            <a:ext cx="800000" cy="3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42F5B5"/>
                </a:solidFill>
                <a:latin typeface="Aptos Mono"/>
              </a:rPr>
              <a:t>20%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3890000"/>
            <a:ext cx="34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700" b="1" i="0">
                <a:solidFill>
                  <a:srgbClr val="F2F7F5"/>
                </a:solidFill>
                <a:latin typeface="Aptos"/>
              </a:rPr>
              <a:t>Reliability + security</a:t>
            </a:r>
            <a:endParaRPr lang="en-US" sz="17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4250000"/>
            <a:ext cx="3900000" cy="4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Harden observability, failover, and enterprise controls.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4710000"/>
            <a:ext cx="800000" cy="3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42F5B5"/>
                </a:solidFill>
                <a:latin typeface="Aptos Mono"/>
              </a:rPr>
              <a:t>10%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4710000"/>
            <a:ext cx="34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700" b="1" i="0">
                <a:solidFill>
                  <a:srgbClr val="F2F7F5"/>
                </a:solidFill>
                <a:latin typeface="Aptos"/>
              </a:rPr>
              <a:t>GTM</a:t>
            </a:r>
            <a:endParaRPr lang="en-US" sz="17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550000" y="5070000"/>
            <a:ext cx="3900000" cy="42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0" i="0">
                <a:solidFill>
                  <a:srgbClr val="A9BBC0"/>
                </a:solidFill>
                <a:latin typeface="Aptos"/>
              </a:rPr>
              <a:t>Create ROI tooling, case studies, and developer onboarding.</a:t>
            </a:r>
            <a:endParaRPr lang="en-US" sz="13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6650000" y="1800000"/>
            <a:ext cx="4000000" cy="3400000"/>
          </a:xfrm>
          <a:solidFill>
            <a:srgbClr val="131E28"/>
          </a:solidFill>
          <a:ln w="12700">
            <a:solidFill>
              <a:srgbClr val="42F5B5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000000" y="2200000"/>
            <a:ext cx="3300000" cy="34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300" b="1" i="0">
                <a:solidFill>
                  <a:srgbClr val="42F5B5"/>
                </a:solidFill>
                <a:latin typeface="Aptos Mono"/>
              </a:rPr>
              <a:t>THE MILESTONE</a:t>
            </a:r>
            <a:endParaRPr lang="en-US" sz="13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000000" y="2750000"/>
            <a:ext cx="3300000" cy="8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Prove repeatable</a:t>
            </a:r>
            <a:endParaRPr lang="en-US" sz="2900"/>
          </a:p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savings in production.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000000" y="3920000"/>
            <a:ext cx="3300000" cy="6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A focused path from demo-ready prototype to paid, measurable deployments.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prstGeom prst="rect">
            <a:avLst/>
          </a:prstGeom>
          <a:xfrm>
            <a:off x="0" y="0"/>
            <a:ext cx="12192000" cy="6858000"/>
          </a:xfrm>
          <a:solidFill>
            <a:srgbClr val="0B1118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330000"/>
            <a:ext cx="9000000" cy="2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42F5B5"/>
                </a:solidFill>
                <a:latin typeface="Aptos Mono"/>
              </a:rPr>
              <a:t>07 • ROADMAP</a:t>
            </a:r>
            <a:endParaRPr lang="en-US" sz="1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50000"/>
            <a:ext cx="10500000" cy="6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900" b="1" i="0">
                <a:solidFill>
                  <a:srgbClr val="F2F7F5"/>
                </a:solidFill>
                <a:latin typeface="Aptos"/>
              </a:rPr>
              <a:t>The future: a routing intelligence layer for every AI stack.</a:t>
            </a:r>
            <a:endParaRPr lang="en-US" sz="29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11000000" y="420000"/>
            <a:ext cx="7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100" b="1" i="0">
                <a:solidFill>
                  <a:srgbClr val="A9BBC0"/>
                </a:solidFill>
                <a:latin typeface="Aptos Mono"/>
              </a:rPr>
              <a:t>08 / 08</a:t>
            </a:r>
            <a:endParaRPr lang="en-US" sz="11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1900000"/>
            <a:ext cx="650000" cy="650000"/>
          </a:xfrm>
          <a:solidFill>
            <a:srgbClr val="42F5B5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560000" y="211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1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2750000"/>
            <a:ext cx="3000000" cy="2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1" i="0">
                <a:solidFill>
                  <a:srgbClr val="42F5B5"/>
                </a:solidFill>
                <a:latin typeface="Aptos Mono"/>
              </a:rPr>
              <a:t>NOW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3150000"/>
            <a:ext cx="30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F2F7F5"/>
                </a:solidFill>
                <a:latin typeface="Aptos"/>
              </a:rPr>
              <a:t>Gateway MVP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3650000"/>
            <a:ext cx="3000000" cy="7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Multi-provider routing, live pricing, API compatibility, observability.</a:t>
            </a:r>
            <a:endParaRPr lang="en-US" sz="1400"/>
          </a:p>
        </p:txBody>
      </p:sp>
      <p:cxnSp>
        <p:nvCxnSpPr>
          <p:cNvPr id="0" name="Connector"/>
          <p:cNvCxnSpPr/>
          <p:nvPr/>
        </p:nvCxnSpPr>
        <p:spPr>
          <a:xfrm>
            <a:off x="1260000" y="2225000"/>
            <a:ext cx="2550000" cy="0"/>
          </a:xfrm>
          <a:prstGeom prst="line">
            <a:avLst/>
          </a:prstGeom>
          <a:ln w="63500">
            <a:solidFill>
              <a:srgbClr val="182733"/>
            </a:solidFill>
          </a:ln>
        </p:spPr>
      </p:cxn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4160000" y="1900000"/>
            <a:ext cx="650000" cy="650000"/>
          </a:xfrm>
          <a:solidFill>
            <a:srgbClr val="43D9FF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4160000" y="211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2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160000" y="2750000"/>
            <a:ext cx="3000000" cy="2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1" i="0">
                <a:solidFill>
                  <a:srgbClr val="43D9FF"/>
                </a:solidFill>
                <a:latin typeface="Aptos Mono"/>
              </a:rPr>
              <a:t>NEXT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160000" y="3150000"/>
            <a:ext cx="30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F2F7F5"/>
                </a:solidFill>
                <a:latin typeface="Aptos"/>
              </a:rPr>
              <a:t>Production pilots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4160000" y="3650000"/>
            <a:ext cx="3000000" cy="7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Design partners, savings benchmarks, policy controls, enterprise hardening.</a:t>
            </a:r>
            <a:endParaRPr lang="en-US" sz="1400"/>
          </a:p>
        </p:txBody>
      </p:sp>
      <p:cxnSp>
        <p:nvCxnSpPr>
          <p:cNvPr id="0" name="Connector"/>
          <p:cNvCxnSpPr/>
          <p:nvPr/>
        </p:nvCxnSpPr>
        <p:spPr>
          <a:xfrm>
            <a:off x="4860000" y="2225000"/>
            <a:ext cx="2550000" cy="0"/>
          </a:xfrm>
          <a:prstGeom prst="line">
            <a:avLst/>
          </a:prstGeom>
          <a:ln w="63500">
            <a:solidFill>
              <a:srgbClr val="182733"/>
            </a:solidFill>
          </a:ln>
        </p:spPr>
      </p:cxn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7760000" y="1900000"/>
            <a:ext cx="650000" cy="650000"/>
          </a:xfrm>
          <a:solidFill>
            <a:srgbClr val="FFC857"/>
          </a:solidFill>
          <a:ln>
            <a:noFill/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7760000" y="2116666"/>
            <a:ext cx="650000" cy="216666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200" b="1" i="0">
                <a:solidFill>
                  <a:srgbClr val="0B1118"/>
                </a:solidFill>
                <a:latin typeface="Aptos"/>
              </a:rPr>
              <a:t>3</a:t>
            </a:r>
            <a:endParaRPr lang="en-US" sz="2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760000" y="2750000"/>
            <a:ext cx="3000000" cy="2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200" b="1" i="0">
                <a:solidFill>
                  <a:srgbClr val="FFC857"/>
                </a:solidFill>
                <a:latin typeface="Aptos Mono"/>
              </a:rPr>
              <a:t>LATER</a:t>
            </a:r>
            <a:endParaRPr lang="en-US" sz="12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760000" y="3150000"/>
            <a:ext cx="300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100" b="1" i="0">
                <a:solidFill>
                  <a:srgbClr val="F2F7F5"/>
                </a:solidFill>
                <a:latin typeface="Aptos"/>
              </a:rPr>
              <a:t>Randomized trees</a:t>
            </a:r>
            <a:endParaRPr lang="en-US" sz="21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7760000" y="3650000"/>
            <a:ext cx="3000000" cy="7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0" i="0">
                <a:solidFill>
                  <a:srgbClr val="A9BBC0"/>
                </a:solidFill>
                <a:latin typeface="Aptos"/>
              </a:rPr>
              <a:t>Research randomized-tree routing for faster, more explainable model selection at scale.</a:t>
            </a:r>
            <a:endParaRPr lang="en-US" sz="1400"/>
          </a:p>
        </p:txBody>
      </p:sp>
      <p:sp>
        <p:nvSpPr>
          <p:cNvPr id="0" name="Shape"/>
          <p:cNvSpPr/>
          <p:nvPr/>
        </p:nvSpPr>
        <p:spPr>
          <a:prstGeom prst="roundRect">
            <a:avLst/>
          </a:prstGeom>
          <a:xfrm>
            <a:off x="560000" y="5100000"/>
            <a:ext cx="10080000" cy="850000"/>
          </a:xfrm>
          <a:solidFill>
            <a:srgbClr val="16352A"/>
          </a:solidFill>
          <a:ln w="12700">
            <a:solidFill>
              <a:srgbClr val="42F5B5"/>
            </a:solidFill>
          </a:ln>
        </p:spPr>
      </p:sp>
      <p:sp>
        <p:nvSpPr>
          <p:cNvPr id="0" name="Text"/>
          <p:cNvSpPr/>
          <p:nvPr>
            <p:txBox/>
          </p:nvPr>
        </p:nvSpPr>
        <p:spPr>
          <a:xfrm>
            <a:off x="850000" y="5370000"/>
            <a:ext cx="9450000" cy="35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2000" b="1" i="0">
                <a:solidFill>
                  <a:srgbClr val="F2F7F5"/>
                </a:solidFill>
                <a:latin typeface="Aptos"/>
              </a:rPr>
              <a:t>Our ambition: make cost-aware routing the default layer behind every serious AI application.</a:t>
            </a:r>
            <a:endParaRPr lang="en-US" sz="20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5950000"/>
            <a:ext cx="10200000" cy="30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1400" b="1" i="0">
                <a:solidFill>
                  <a:srgbClr val="FFC857"/>
                </a:solidFill>
                <a:latin typeface="Aptos"/>
              </a:rPr>
              <a:t>Thank you  •  TrimToken AI  •  Let’s make AI economics sustainable.</a:t>
            </a:r>
            <a:endParaRPr lang="en-US" sz="1400"/>
          </a:p>
        </p:txBody>
      </p:sp>
      <p:sp>
        <p:nvSpPr>
          <p:cNvPr id="0" name="Text"/>
          <p:cNvSpPr/>
          <p:nvPr>
            <p:txBox/>
          </p:nvPr>
        </p:nvSpPr>
        <p:spPr>
          <a:xfrm>
            <a:off x="560000" y="6400000"/>
            <a:ext cx="10500000" cy="180000"/>
          </a:xfrm>
          <a:noFill/>
          <a:ln>
            <a:noFill/>
          </a:ln>
        </p:spPr>
        <p:txBody>
          <a:bodyPr wrap="square" rtlCol="0" anchor="t"/>
          <a:lstStyle/>
          <a:p>
            <a:r>
              <a:rPr lang="en-US" sz="900" b="0" i="0">
                <a:solidFill>
                  <a:srgbClr val="A9BBC0"/>
                </a:solidFill>
                <a:latin typeface="Aptos Mono"/>
              </a:rPr>
              <a:t>TRIMTOKEN AI  •  COST-AWARE INTELLIGENCE FOR THE MULTI-MODEL ERA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mToken">
  <a:themeElements>
    <a:clrScheme name="TrimToken">
      <a:dk1>
        <a:srgbClr val="000000"/>
      </a:dk1>
      <a:lt1>
        <a:srgbClr val="FFFFFF"/>
      </a:lt1>
      <a:dk2>
        <a:srgbClr val="0B1118"/>
      </a:dk2>
      <a:lt2>
        <a:srgbClr val="F2F7F5"/>
      </a:lt2>
      <a:accent1>
        <a:srgbClr val="42F5B5"/>
      </a:accent1>
      <a:accent2>
        <a:srgbClr val="43D9FF"/>
      </a:accent2>
      <a:accent3>
        <a:srgbClr val="FFC857"/>
      </a:accent3>
      <a:accent4>
        <a:srgbClr val="B18CFF"/>
      </a:accent4>
      <a:accent5>
        <a:srgbClr val="FF6B6B"/>
      </a:accent5>
      <a:accent6>
        <a:srgbClr val="A9BBC0"/>
      </a:accent6>
      <a:hlink>
        <a:srgbClr val="43D9FF"/>
      </a:hlink>
      <a:folHlink>
        <a:srgbClr val="B18CFF"/>
      </a:folHlink>
    </a:clrScheme>
    <a:fontScheme name="TrimToken">
      <a:majorFont>
        <a:latin typeface="Aptos Display"/>
      </a:majorFont>
      <a:minorFont>
        <a:latin typeface="Aptos"/>
      </a:minorFont>
    </a:fontScheme>
    <a:fmtScheme name="TrimToken"/>
  </a:themeElements>
</a:theme>
</file>