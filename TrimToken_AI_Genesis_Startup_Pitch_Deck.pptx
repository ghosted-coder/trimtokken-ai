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6" d="100"/>
          <a:sy n="86" d="100"/>
        </p:scale>
        <p:origin x="288"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267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Shape 1"/>
          <p:cNvSpPr/>
          <p:nvPr/>
        </p:nvSpPr>
        <p:spPr>
          <a:xfrm>
            <a:off x="9052560" y="3291840"/>
            <a:ext cx="4754880" cy="4754880"/>
          </a:xfrm>
          <a:prstGeom prst="ellipse">
            <a:avLst/>
          </a:prstGeom>
          <a:solidFill>
            <a:srgbClr val="141A47"/>
          </a:solidFill>
          <a:ln/>
        </p:spPr>
      </p:sp>
      <p:sp>
        <p:nvSpPr>
          <p:cNvPr id="4" name="Shape 2"/>
          <p:cNvSpPr/>
          <p:nvPr/>
        </p:nvSpPr>
        <p:spPr>
          <a:xfrm>
            <a:off x="9784080" y="4023360"/>
            <a:ext cx="3291840" cy="3291840"/>
          </a:xfrm>
          <a:prstGeom prst="ellipse">
            <a:avLst/>
          </a:prstGeom>
          <a:solidFill>
            <a:srgbClr val="24306B"/>
          </a:solidFill>
          <a:ln/>
        </p:spPr>
      </p:sp>
      <p:sp>
        <p:nvSpPr>
          <p:cNvPr id="5" name="Shape 3"/>
          <p:cNvSpPr/>
          <p:nvPr/>
        </p:nvSpPr>
        <p:spPr>
          <a:xfrm>
            <a:off x="10515600" y="4754880"/>
            <a:ext cx="1828800" cy="1828800"/>
          </a:xfrm>
          <a:prstGeom prst="ellipse">
            <a:avLst/>
          </a:prstGeom>
          <a:solidFill>
            <a:srgbClr val="3E5C9A"/>
          </a:solidFill>
          <a:ln/>
        </p:spPr>
      </p:sp>
      <p:sp>
        <p:nvSpPr>
          <p:cNvPr id="7" name="Text 5"/>
          <p:cNvSpPr txBox="1"/>
          <p:nvPr/>
        </p:nvSpPr>
        <p:spPr>
          <a:xfrm>
            <a:off x="548640" y="2560320"/>
            <a:ext cx="8686800" cy="118872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TrimToken AI</a:t>
            </a:r>
            <a:endParaRPr lang="en-US" sz="4600" dirty="0"/>
          </a:p>
        </p:txBody>
      </p:sp>
      <p:sp>
        <p:nvSpPr>
          <p:cNvPr id="8" name="Text 6"/>
          <p:cNvSpPr txBox="1"/>
          <p:nvPr/>
        </p:nvSpPr>
        <p:spPr>
          <a:xfrm>
            <a:off x="548640" y="3703320"/>
            <a:ext cx="7772400" cy="457200"/>
          </a:xfrm>
          <a:prstGeom prst="rect">
            <a:avLst/>
          </a:prstGeom>
          <a:noFill/>
          <a:ln/>
        </p:spPr>
        <p:txBody>
          <a:bodyPr wrap="square" lIns="0" tIns="0" rIns="0" bIns="0" rtlCol="0" anchor="ctr"/>
          <a:lstStyle/>
          <a:p>
            <a:pPr marL="0" indent="0">
              <a:buNone/>
            </a:pPr>
            <a:r>
              <a:rPr lang="en-US" sz="1700" i="1" dirty="0">
                <a:solidFill>
                  <a:srgbClr val="CADCFC"/>
                </a:solidFill>
                <a:latin typeface="Calibri" pitchFamily="34" charset="0"/>
                <a:ea typeface="Calibri" pitchFamily="34" charset="-122"/>
                <a:cs typeface="Calibri" pitchFamily="34" charset="-120"/>
              </a:rPr>
              <a:t>The cost-aware intelligence layer for every AI application</a:t>
            </a:r>
            <a:endParaRPr lang="en-US" sz="1700" dirty="0"/>
          </a:p>
        </p:txBody>
      </p:sp>
      <p:sp>
        <p:nvSpPr>
          <p:cNvPr id="9" name="Shape 7"/>
          <p:cNvSpPr/>
          <p:nvPr/>
        </p:nvSpPr>
        <p:spPr>
          <a:xfrm>
            <a:off x="548640" y="4434840"/>
            <a:ext cx="2926080" cy="0"/>
          </a:xfrm>
          <a:prstGeom prst="line">
            <a:avLst/>
          </a:prstGeom>
          <a:noFill/>
          <a:ln w="12700">
            <a:solidFill>
              <a:srgbClr val="3E4A8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00" b="1" kern="0" spc="150" dirty="0">
                <a:solidFill>
                  <a:srgbClr val="3E5C9A"/>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74980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Enterprise AI spend is growing faster than teams can control it.</a:t>
            </a:r>
            <a:endParaRPr lang="en-US" sz="3200" dirty="0"/>
          </a:p>
        </p:txBody>
      </p:sp>
      <p:sp>
        <p:nvSpPr>
          <p:cNvPr id="6" name="Text 3"/>
          <p:cNvSpPr txBox="1"/>
          <p:nvPr/>
        </p:nvSpPr>
        <p:spPr>
          <a:xfrm>
            <a:off x="1783080" y="1965960"/>
            <a:ext cx="9875520" cy="1005840"/>
          </a:xfrm>
          <a:prstGeom prst="rect">
            <a:avLst/>
          </a:prstGeom>
          <a:noFill/>
          <a:ln/>
        </p:spPr>
        <p:txBody>
          <a:bodyPr wrap="square" lIns="0" tIns="0" rIns="0" bIns="0" rtlCol="0" anchor="ctr"/>
          <a:lstStyle/>
          <a:p>
            <a:pPr marL="0" indent="0">
              <a:lnSpc>
                <a:spcPct val="120000"/>
              </a:lnSpc>
              <a:buNone/>
            </a:pPr>
            <a:r>
              <a:rPr lang="en-US" sz="1600" i="1" dirty="0">
                <a:solidFill>
                  <a:srgbClr val="5B6785"/>
                </a:solidFill>
                <a:latin typeface="Calibri" pitchFamily="34" charset="0"/>
                <a:ea typeface="Calibri" pitchFamily="34" charset="-122"/>
                <a:cs typeface="Calibri" pitchFamily="34" charset="-120"/>
              </a:rPr>
              <a:t>AI teams are scaling usage across multiple providers, but most requests are still sent to one expensive model. This creates unpredictable API spend, slow manual model selection, and no simple way to balance quality, latency, and cost.</a:t>
            </a:r>
            <a:endParaRPr lang="en-US" sz="1600" dirty="0"/>
          </a:p>
        </p:txBody>
      </p:sp>
      <p:sp>
        <p:nvSpPr>
          <p:cNvPr id="19" name="Text 16"/>
          <p:cNvSpPr txBox="1"/>
          <p:nvPr/>
        </p:nvSpPr>
        <p:spPr>
          <a:xfrm>
            <a:off x="548640" y="6446520"/>
            <a:ext cx="914400" cy="274320"/>
          </a:xfrm>
          <a:prstGeom prst="rect">
            <a:avLst/>
          </a:prstGeom>
          <a:noFill/>
          <a:ln/>
        </p:spPr>
        <p:txBody>
          <a:bodyPr wrap="square" lIns="0" tIns="0" rIns="0" bIns="0" rtlCol="0" anchor="ctr"/>
          <a:lstStyle/>
          <a:p>
            <a:pPr marL="0" indent="0">
              <a:buNone/>
            </a:pPr>
            <a:r>
              <a:rPr lang="en-US" sz="900" dirty="0">
                <a:solidFill>
                  <a:srgbClr val="A7B1C9"/>
                </a:solidFill>
                <a:latin typeface="Calibri" pitchFamily="34" charset="0"/>
                <a:ea typeface="Calibri" pitchFamily="34" charset="-122"/>
                <a:cs typeface="Calibri" pitchFamily="34" charset="-120"/>
              </a:rPr>
              <a:t>03</a:t>
            </a:r>
            <a:endParaRPr lang="en-US" sz="900" dirty="0"/>
          </a:p>
        </p:txBody>
      </p:sp>
      <p:sp>
        <p:nvSpPr>
          <p:cNvPr id="20" name="Text 17"/>
          <p:cNvSpPr txBox="1"/>
          <p:nvPr/>
        </p:nvSpPr>
        <p:spPr>
          <a:xfrm>
            <a:off x="8074152" y="6446520"/>
            <a:ext cx="3657600" cy="274320"/>
          </a:xfrm>
          <a:prstGeom prst="rect">
            <a:avLst/>
          </a:prstGeom>
          <a:noFill/>
          <a:ln/>
        </p:spPr>
        <p:txBody>
          <a:bodyPr wrap="square" lIns="0" tIns="0" rIns="0" bIns="0" rtlCol="0" anchor="ctr"/>
          <a:lstStyle/>
          <a:p>
            <a:pPr marL="0" indent="0" algn="r">
              <a:buNone/>
            </a:pPr>
            <a:r>
              <a:rPr lang="en-US" sz="900" kern="0" spc="100" dirty="0">
                <a:solidFill>
                  <a:srgbClr val="A7B1C9"/>
                </a:solidFill>
                <a:latin typeface="Calibri" pitchFamily="34" charset="0"/>
                <a:ea typeface="Calibri" pitchFamily="34" charset="-122"/>
                <a:cs typeface="Calibri" pitchFamily="34" charset="-120"/>
              </a:rPr>
              <a:t>PROBLEM STATEMENT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00" b="1" kern="0" spc="150" dirty="0">
                <a:solidFill>
                  <a:srgbClr val="8FA6DE"/>
                </a:solidFill>
                <a:latin typeface="Calibri" pitchFamily="34" charset="0"/>
                <a:ea typeface="Calibri" pitchFamily="34" charset="-122"/>
                <a:cs typeface="Calibri" pitchFamily="34" charset="-120"/>
              </a:rPr>
              <a:t>OUR SOLUTION</a:t>
            </a:r>
            <a:endParaRPr lang="en-US" sz="1200" dirty="0"/>
          </a:p>
        </p:txBody>
      </p:sp>
      <p:sp>
        <p:nvSpPr>
          <p:cNvPr id="3" name="Text 1"/>
          <p:cNvSpPr txBox="1"/>
          <p:nvPr/>
        </p:nvSpPr>
        <p:spPr>
          <a:xfrm>
            <a:off x="548640" y="749808"/>
            <a:ext cx="105156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 dynamic routing control plane for multi-model AI workloads.</a:t>
            </a:r>
            <a:endParaRPr lang="en-US" sz="3200" dirty="0"/>
          </a:p>
        </p:txBody>
      </p:sp>
      <p:sp>
        <p:nvSpPr>
          <p:cNvPr id="6" name="Text 3"/>
          <p:cNvSpPr txBox="1"/>
          <p:nvPr/>
        </p:nvSpPr>
        <p:spPr>
          <a:xfrm>
            <a:off x="1783080" y="1874520"/>
            <a:ext cx="9875520" cy="1051560"/>
          </a:xfrm>
          <a:prstGeom prst="rect">
            <a:avLst/>
          </a:prstGeom>
          <a:noFill/>
          <a:ln/>
        </p:spPr>
        <p:txBody>
          <a:bodyPr wrap="square" lIns="0" tIns="0" rIns="0" bIns="0" rtlCol="0" anchor="ctr"/>
          <a:lstStyle/>
          <a:p>
            <a:pPr marL="0" indent="0">
              <a:lnSpc>
                <a:spcPct val="120000"/>
              </a:lnSpc>
              <a:buNone/>
            </a:pPr>
            <a:r>
              <a:rPr lang="en-US" sz="1600" i="1" dirty="0">
                <a:solidFill>
                  <a:srgbClr val="CADCFC"/>
                </a:solidFill>
                <a:latin typeface="Calibri" pitchFamily="34" charset="0"/>
                <a:ea typeface="Calibri" pitchFamily="34" charset="-122"/>
                <a:cs typeface="Calibri" pitchFamily="34" charset="-120"/>
              </a:rPr>
              <a:t>TrimToken AI is an OpenAI-compatible gateway that classifies every query and routes it to the best-fit model. It combines a fine-tuned Qwen routing classifier, live provider pricing, quality thresholds, and failover to reduce cost without sacrificing user experience.</a:t>
            </a:r>
            <a:endParaRPr lang="en-US" sz="1600" dirty="0"/>
          </a:p>
        </p:txBody>
      </p:sp>
      <p:sp>
        <p:nvSpPr>
          <p:cNvPr id="9" name="Text 6"/>
          <p:cNvSpPr txBox="1"/>
          <p:nvPr/>
        </p:nvSpPr>
        <p:spPr>
          <a:xfrm>
            <a:off x="868680" y="3657600"/>
            <a:ext cx="28041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a:t>
            </a:r>
            <a:endParaRPr lang="en-US" sz="1400" dirty="0"/>
          </a:p>
        </p:txBody>
      </p:sp>
      <p:sp>
        <p:nvSpPr>
          <p:cNvPr id="13" name="Text 10"/>
          <p:cNvSpPr txBox="1"/>
          <p:nvPr/>
        </p:nvSpPr>
        <p:spPr>
          <a:xfrm>
            <a:off x="4587240" y="3657600"/>
            <a:ext cx="28041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a:t>
            </a:r>
            <a:endParaRPr lang="en-US" sz="1400" dirty="0"/>
          </a:p>
        </p:txBody>
      </p:sp>
      <p:sp>
        <p:nvSpPr>
          <p:cNvPr id="19" name="Text 16"/>
          <p:cNvSpPr txBox="1"/>
          <p:nvPr/>
        </p:nvSpPr>
        <p:spPr>
          <a:xfrm>
            <a:off x="548640" y="6446520"/>
            <a:ext cx="914400" cy="274320"/>
          </a:xfrm>
          <a:prstGeom prst="rect">
            <a:avLst/>
          </a:prstGeom>
          <a:noFill/>
          <a:ln/>
        </p:spPr>
        <p:txBody>
          <a:bodyPr wrap="square" lIns="0" tIns="0" rIns="0" bIns="0" rtlCol="0" anchor="ctr"/>
          <a:lstStyle/>
          <a:p>
            <a:pPr marL="0" indent="0">
              <a:buNone/>
            </a:pPr>
            <a:r>
              <a:rPr lang="en-US" sz="900" dirty="0">
                <a:solidFill>
                  <a:srgbClr val="8C9BC4"/>
                </a:solidFill>
                <a:latin typeface="Calibri" pitchFamily="34" charset="0"/>
                <a:ea typeface="Calibri" pitchFamily="34" charset="-122"/>
                <a:cs typeface="Calibri" pitchFamily="34" charset="-120"/>
              </a:rPr>
              <a:t>04</a:t>
            </a:r>
            <a:endParaRPr lang="en-US" sz="900" dirty="0"/>
          </a:p>
        </p:txBody>
      </p:sp>
      <p:sp>
        <p:nvSpPr>
          <p:cNvPr id="20" name="Text 17"/>
          <p:cNvSpPr txBox="1"/>
          <p:nvPr/>
        </p:nvSpPr>
        <p:spPr>
          <a:xfrm>
            <a:off x="8074152" y="6446520"/>
            <a:ext cx="3657600" cy="274320"/>
          </a:xfrm>
          <a:prstGeom prst="rect">
            <a:avLst/>
          </a:prstGeom>
          <a:noFill/>
          <a:ln/>
        </p:spPr>
        <p:txBody>
          <a:bodyPr wrap="square" lIns="0" tIns="0" rIns="0" bIns="0" rtlCol="0" anchor="ctr"/>
          <a:lstStyle/>
          <a:p>
            <a:pPr marL="0" indent="0" algn="r">
              <a:buNone/>
            </a:pPr>
            <a:r>
              <a:rPr lang="en-US" sz="900" kern="0" spc="100" dirty="0">
                <a:solidFill>
                  <a:srgbClr val="8C9BC4"/>
                </a:solidFill>
                <a:latin typeface="Calibri" pitchFamily="34" charset="0"/>
                <a:ea typeface="Calibri" pitchFamily="34" charset="-122"/>
                <a:cs typeface="Calibri" pitchFamily="34" charset="-120"/>
              </a:rPr>
              <a:t>SOLUTION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74980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Technology used &amp; Readiness</a:t>
            </a:r>
            <a:endParaRPr lang="en-US" sz="3200" dirty="0"/>
          </a:p>
        </p:txBody>
      </p:sp>
      <p:sp>
        <p:nvSpPr>
          <p:cNvPr id="6" name="Text 3"/>
          <p:cNvSpPr txBox="1"/>
          <p:nvPr/>
        </p:nvSpPr>
        <p:spPr>
          <a:xfrm>
            <a:off x="1691640" y="1920240"/>
            <a:ext cx="9601200" cy="731520"/>
          </a:xfrm>
          <a:prstGeom prst="rect">
            <a:avLst/>
          </a:prstGeom>
          <a:noFill/>
          <a:ln/>
        </p:spPr>
        <p:txBody>
          <a:bodyPr wrap="square" lIns="0" tIns="0" rIns="0" bIns="0" rtlCol="0" anchor="ctr"/>
          <a:lstStyle/>
          <a:p>
            <a:pPr marL="0" indent="0">
              <a:buNone/>
            </a:pPr>
            <a:r>
              <a:rPr lang="en-US" sz="1400" i="1" dirty="0">
                <a:solidFill>
                  <a:srgbClr val="5B6785"/>
                </a:solidFill>
                <a:latin typeface="Calibri" pitchFamily="34" charset="0"/>
                <a:ea typeface="Calibri" pitchFamily="34" charset="-122"/>
                <a:cs typeface="Calibri" pitchFamily="34" charset="-120"/>
              </a:rPr>
              <a:t>Current stage: working prototype / pilot-ready. Shipped: React dashboard, Express gateway, OpenAI-compatible endpoint, multi-provider routing logic, live pricing matrix, ROI simulator, observability stream, and fine-tuned Qwen routing path. In progress: production pilots, stronger benchmarks, enterprise security, and randomized-tree routing research.</a:t>
            </a:r>
            <a:endParaRPr lang="en-US" sz="1400" dirty="0"/>
          </a:p>
        </p:txBody>
      </p:sp>
      <p:sp>
        <p:nvSpPr>
          <p:cNvPr id="30" name="Text 27"/>
          <p:cNvSpPr txBox="1"/>
          <p:nvPr/>
        </p:nvSpPr>
        <p:spPr>
          <a:xfrm>
            <a:off x="548640" y="6446520"/>
            <a:ext cx="914400" cy="274320"/>
          </a:xfrm>
          <a:prstGeom prst="rect">
            <a:avLst/>
          </a:prstGeom>
          <a:noFill/>
          <a:ln/>
        </p:spPr>
        <p:txBody>
          <a:bodyPr wrap="square" lIns="0" tIns="0" rIns="0" bIns="0" rtlCol="0" anchor="ctr"/>
          <a:lstStyle/>
          <a:p>
            <a:pPr marL="0" indent="0">
              <a:buNone/>
            </a:pPr>
            <a:r>
              <a:rPr lang="en-US" sz="900" dirty="0">
                <a:solidFill>
                  <a:srgbClr val="A7B1C9"/>
                </a:solidFill>
                <a:latin typeface="Calibri" pitchFamily="34" charset="0"/>
                <a:ea typeface="Calibri" pitchFamily="34" charset="-122"/>
                <a:cs typeface="Calibri" pitchFamily="34" charset="-120"/>
              </a:rPr>
              <a:t>05</a:t>
            </a:r>
            <a:endParaRPr lang="en-US" sz="900" dirty="0"/>
          </a:p>
        </p:txBody>
      </p:sp>
      <p:sp>
        <p:nvSpPr>
          <p:cNvPr id="31" name="Text 28"/>
          <p:cNvSpPr txBox="1"/>
          <p:nvPr/>
        </p:nvSpPr>
        <p:spPr>
          <a:xfrm>
            <a:off x="8074152" y="6446520"/>
            <a:ext cx="3657600" cy="274320"/>
          </a:xfrm>
          <a:prstGeom prst="rect">
            <a:avLst/>
          </a:prstGeom>
          <a:noFill/>
          <a:ln/>
        </p:spPr>
        <p:txBody>
          <a:bodyPr wrap="square" lIns="0" tIns="0" rIns="0" bIns="0" rtlCol="0" anchor="ctr"/>
          <a:lstStyle/>
          <a:p>
            <a:pPr marL="0" indent="0" algn="r">
              <a:buNone/>
            </a:pPr>
            <a:r>
              <a:rPr lang="en-US" sz="900" kern="0" spc="100" dirty="0">
                <a:solidFill>
                  <a:srgbClr val="A7B1C9"/>
                </a:solidFill>
                <a:latin typeface="Calibri" pitchFamily="34" charset="0"/>
                <a:ea typeface="Calibri" pitchFamily="34" charset="-122"/>
                <a:cs typeface="Calibri" pitchFamily="34" charset="-120"/>
              </a:rPr>
              <a:t>TECHNOLOGY READINESS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00" b="1" kern="0" spc="150" dirty="0">
                <a:solidFill>
                  <a:srgbClr val="3E5C9A"/>
                </a:solidFill>
                <a:latin typeface="Calibri" pitchFamily="34" charset="0"/>
                <a:ea typeface="Calibri" pitchFamily="34" charset="-122"/>
                <a:cs typeface="Calibri" pitchFamily="34" charset="-120"/>
              </a:rPr>
              <a:t> </a:t>
            </a:r>
            <a:endParaRPr lang="en-US" sz="1200" dirty="0"/>
          </a:p>
        </p:txBody>
      </p:sp>
      <p:sp>
        <p:nvSpPr>
          <p:cNvPr id="3" name="Text 1"/>
          <p:cNvSpPr txBox="1"/>
          <p:nvPr/>
        </p:nvSpPr>
        <p:spPr>
          <a:xfrm>
            <a:off x="450669" y="442827"/>
            <a:ext cx="11229703"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 USP / Differentiation</a:t>
            </a:r>
          </a:p>
          <a:p>
            <a:pPr marL="0" indent="0">
              <a:buNone/>
            </a:pPr>
            <a:r>
              <a:rPr lang="en-US" sz="3200" b="1" dirty="0">
                <a:solidFill>
                  <a:srgbClr val="1E2761"/>
                </a:solidFill>
                <a:latin typeface="Cambria" pitchFamily="34" charset="0"/>
                <a:ea typeface="Cambria" pitchFamily="34" charset="-122"/>
              </a:rPr>
              <a:t>&amp; </a:t>
            </a:r>
          </a:p>
          <a:p>
            <a:pPr marL="0" indent="0">
              <a:buNone/>
            </a:pPr>
            <a:r>
              <a:rPr lang="en-US" sz="3200" b="1" dirty="0">
                <a:solidFill>
                  <a:srgbClr val="1E2761"/>
                </a:solidFill>
                <a:latin typeface="Cambria" pitchFamily="34" charset="0"/>
                <a:ea typeface="Cambria" pitchFamily="34" charset="-122"/>
              </a:rPr>
              <a:t>Intellectual Property (</a:t>
            </a:r>
            <a:r>
              <a:rPr lang="en-US" sz="1600" b="1" dirty="0">
                <a:solidFill>
                  <a:srgbClr val="1E2761"/>
                </a:solidFill>
                <a:latin typeface="Cambria" pitchFamily="34" charset="0"/>
                <a:ea typeface="Cambria" pitchFamily="34" charset="-122"/>
              </a:rPr>
              <a:t>Current IP </a:t>
            </a:r>
            <a:r>
              <a:rPr lang="en-US" sz="1600" b="1" dirty="0" err="1">
                <a:solidFill>
                  <a:srgbClr val="1E2761"/>
                </a:solidFill>
                <a:latin typeface="Cambria" pitchFamily="34" charset="0"/>
                <a:ea typeface="Cambria" pitchFamily="34" charset="-122"/>
              </a:rPr>
              <a:t>Not yet filed</a:t>
            </a:r>
            <a:r>
              <a:rPr lang="en-US" sz="1600" b="1" dirty="0">
                <a:solidFill>
                  <a:srgbClr val="1E2761"/>
                </a:solidFill>
                <a:latin typeface="Cambria" pitchFamily="34" charset="0"/>
                <a:ea typeface="Cambria" pitchFamily="34" charset="-122"/>
              </a:rPr>
              <a:t> — potential areas include </a:t>
            </a:r>
            <a:r>
              <a:rPr lang="en-US" sz="1600" b="1" dirty="0" err="1">
                <a:solidFill>
                  <a:srgbClr val="1E2761"/>
                </a:solidFill>
                <a:latin typeface="Cambria" pitchFamily="34" charset="0"/>
                <a:ea typeface="Cambria" pitchFamily="34" charset="-122"/>
              </a:rPr>
              <a:t>routing policies,</a:t>
            </a:r>
            <a:r>
              <a:rPr lang="en-US" sz="1600" b="1" dirty="0">
                <a:solidFill>
                  <a:srgbClr val="1E2761"/>
                </a:solidFill>
                <a:latin typeface="Cambria" pitchFamily="34" charset="0"/>
                <a:ea typeface="Cambria" pitchFamily="34" charset="-122"/>
              </a:rPr>
              <a:t>model-selection data, and optimization algorithms</a:t>
            </a:r>
            <a:r>
              <a:rPr lang="en-US" sz="3200" b="1" dirty="0">
                <a:solidFill>
                  <a:srgbClr val="1E2761"/>
                </a:solidFill>
                <a:latin typeface="Cambria" pitchFamily="34" charset="0"/>
                <a:ea typeface="Cambria" pitchFamily="34" charset="-122"/>
              </a:rPr>
              <a:t>)</a:t>
            </a:r>
            <a:endParaRPr lang="en-US" sz="3200" dirty="0"/>
          </a:p>
        </p:txBody>
      </p:sp>
      <p:sp>
        <p:nvSpPr>
          <p:cNvPr id="18" name="Text 13"/>
          <p:cNvSpPr txBox="1"/>
          <p:nvPr/>
        </p:nvSpPr>
        <p:spPr>
          <a:xfrm>
            <a:off x="6263640" y="3017520"/>
            <a:ext cx="2240280" cy="594360"/>
          </a:xfrm>
          <a:prstGeom prst="rect">
            <a:avLst/>
          </a:prstGeom>
          <a:noFill/>
          <a:ln/>
        </p:spPr>
        <p:txBody>
          <a:bodyPr wrap="square" lIns="0" tIns="0" rIns="0" bIns="0" rtlCol="0" anchor="ctr"/>
          <a:lstStyle/>
          <a:p>
            <a:pPr marL="0" indent="0" algn="ctr">
              <a:buNone/>
            </a:pPr>
            <a:r>
              <a:rPr lang="en-US" sz="1000" i="1" dirty="0">
                <a:solidFill>
                  <a:srgbClr val="5B6785"/>
                </a:solidFill>
                <a:latin typeface="Calibri" pitchFamily="34" charset="0"/>
                <a:ea typeface="Calibri" pitchFamily="34" charset="-122"/>
                <a:cs typeface="Calibri" pitchFamily="34" charset="-120"/>
              </a:rPr>
              <a:t> </a:t>
            </a:r>
            <a:endParaRPr lang="en-US" sz="1000" dirty="0"/>
          </a:p>
        </p:txBody>
      </p:sp>
      <p:sp>
        <p:nvSpPr>
          <p:cNvPr id="23" name="Text 17"/>
          <p:cNvSpPr txBox="1"/>
          <p:nvPr/>
        </p:nvSpPr>
        <p:spPr>
          <a:xfrm>
            <a:off x="9052560" y="3017520"/>
            <a:ext cx="2240280" cy="594360"/>
          </a:xfrm>
          <a:prstGeom prst="rect">
            <a:avLst/>
          </a:prstGeom>
          <a:noFill/>
          <a:ln/>
        </p:spPr>
        <p:txBody>
          <a:bodyPr wrap="square" lIns="0" tIns="0" rIns="0" bIns="0" rtlCol="0" anchor="ctr"/>
          <a:lstStyle/>
          <a:p>
            <a:pPr marL="0" indent="0" algn="ctr">
              <a:buNone/>
            </a:pPr>
            <a:r>
              <a:rPr lang="en-US" sz="1000" i="1" dirty="0">
                <a:solidFill>
                  <a:srgbClr val="5B6785"/>
                </a:solidFill>
                <a:latin typeface="Calibri" pitchFamily="34" charset="0"/>
                <a:ea typeface="Calibri" pitchFamily="34" charset="-122"/>
                <a:cs typeface="Calibri" pitchFamily="34" charset="-120"/>
              </a:rPr>
              <a:t> </a:t>
            </a:r>
            <a:endParaRPr lang="en-US" sz="1000" dirty="0"/>
          </a:p>
        </p:txBody>
      </p:sp>
      <p:sp>
        <p:nvSpPr>
          <p:cNvPr id="27" name="Text 20"/>
          <p:cNvSpPr txBox="1"/>
          <p:nvPr/>
        </p:nvSpPr>
        <p:spPr>
          <a:xfrm>
            <a:off x="1965960" y="4160520"/>
            <a:ext cx="8961120" cy="365760"/>
          </a:xfrm>
          <a:prstGeom prst="rect">
            <a:avLst/>
          </a:prstGeom>
          <a:noFill/>
          <a:ln/>
        </p:spPr>
        <p:txBody>
          <a:bodyPr wrap="square" lIns="0" tIns="0" rIns="0" bIns="0" rtlCol="0" anchor="ctr"/>
          <a:lstStyle/>
          <a:p>
            <a:pPr marL="0" indent="0">
              <a:buNone/>
            </a:pPr>
            <a:r>
              <a:rPr lang="en-US" sz="1400" b="1" kern="0" spc="100" dirty="0">
                <a:solidFill>
                  <a:srgbClr val="FFFFFF"/>
                </a:solidFill>
                <a:latin typeface="Calibri" pitchFamily="34" charset="0"/>
                <a:ea typeface="Calibri" pitchFamily="34" charset="-122"/>
                <a:cs typeface="Calibri" pitchFamily="34" charset="-120"/>
              </a:rPr>
              <a:t>USP &amp; IP / DIFFERENTIATION</a:t>
            </a:r>
            <a:endParaRPr lang="en-US" sz="1400" dirty="0"/>
          </a:p>
        </p:txBody>
      </p:sp>
      <p:sp>
        <p:nvSpPr>
          <p:cNvPr id="29" name="Text 22"/>
          <p:cNvSpPr txBox="1"/>
          <p:nvPr/>
        </p:nvSpPr>
        <p:spPr>
          <a:xfrm>
            <a:off x="548640" y="6446520"/>
            <a:ext cx="914400" cy="274320"/>
          </a:xfrm>
          <a:prstGeom prst="rect">
            <a:avLst/>
          </a:prstGeom>
          <a:noFill/>
          <a:ln/>
        </p:spPr>
        <p:txBody>
          <a:bodyPr wrap="square" lIns="0" tIns="0" rIns="0" bIns="0" rtlCol="0" anchor="ctr"/>
          <a:lstStyle/>
          <a:p>
            <a:pPr marL="0" indent="0">
              <a:buNone/>
            </a:pPr>
            <a:r>
              <a:rPr lang="en-US" sz="900" dirty="0">
                <a:solidFill>
                  <a:srgbClr val="A7B1C9"/>
                </a:solidFill>
                <a:latin typeface="Calibri" pitchFamily="34" charset="0"/>
                <a:ea typeface="Calibri" pitchFamily="34" charset="-122"/>
                <a:cs typeface="Calibri" pitchFamily="34" charset="-120"/>
              </a:rPr>
              <a:t>06</a:t>
            </a:r>
            <a:endParaRPr lang="en-US" sz="900" dirty="0"/>
          </a:p>
        </p:txBody>
      </p:sp>
      <p:sp>
        <p:nvSpPr>
          <p:cNvPr id="30" name="Text 23"/>
          <p:cNvSpPr txBox="1"/>
          <p:nvPr/>
        </p:nvSpPr>
        <p:spPr>
          <a:xfrm>
            <a:off x="8074152" y="6446520"/>
            <a:ext cx="3657600" cy="274320"/>
          </a:xfrm>
          <a:prstGeom prst="rect">
            <a:avLst/>
          </a:prstGeom>
          <a:noFill/>
          <a:ln/>
        </p:spPr>
        <p:txBody>
          <a:bodyPr wrap="square" lIns="0" tIns="0" rIns="0" bIns="0" rtlCol="0" anchor="ctr"/>
          <a:lstStyle/>
          <a:p>
            <a:pPr marL="0" indent="0" algn="r">
              <a:buNone/>
            </a:pPr>
            <a:r>
              <a:rPr lang="en-US" sz="900" kern="0" spc="100" dirty="0">
                <a:solidFill>
                  <a:srgbClr val="A7B1C9"/>
                </a:solidFill>
                <a:latin typeface="Calibri" pitchFamily="34" charset="0"/>
                <a:ea typeface="Calibri" pitchFamily="34" charset="-122"/>
                <a:cs typeface="Calibri" pitchFamily="34" charset="-120"/>
              </a:rPr>
              <a:t>FEATURES &amp; USP</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74980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Key Market Competitor Comparison</a:t>
            </a:r>
            <a:endParaRPr lang="en-US" sz="3200" dirty="0"/>
          </a:p>
        </p:txBody>
      </p:sp>
      <p:sp>
        <p:nvSpPr>
          <p:cNvPr id="64" name="Text 62"/>
          <p:cNvSpPr txBox="1"/>
          <p:nvPr/>
        </p:nvSpPr>
        <p:spPr>
          <a:xfrm>
            <a:off x="548640" y="6446520"/>
            <a:ext cx="914400" cy="274320"/>
          </a:xfrm>
          <a:prstGeom prst="rect">
            <a:avLst/>
          </a:prstGeom>
          <a:noFill/>
          <a:ln/>
        </p:spPr>
        <p:txBody>
          <a:bodyPr wrap="square" lIns="0" tIns="0" rIns="0" bIns="0" rtlCol="0" anchor="ctr"/>
          <a:lstStyle/>
          <a:p>
            <a:pPr marL="0" indent="0">
              <a:buNone/>
            </a:pPr>
            <a:r>
              <a:rPr lang="en-US" sz="900" dirty="0">
                <a:solidFill>
                  <a:srgbClr val="A7B1C9"/>
                </a:solidFill>
                <a:latin typeface="Calibri" pitchFamily="34" charset="0"/>
                <a:ea typeface="Calibri" pitchFamily="34" charset="-122"/>
                <a:cs typeface="Calibri" pitchFamily="34" charset="-120"/>
              </a:rPr>
              <a:t>07</a:t>
            </a:r>
            <a:endParaRPr lang="en-US" sz="900" dirty="0"/>
          </a:p>
        </p:txBody>
      </p:sp>
      <p:sp>
        <p:nvSpPr>
          <p:cNvPr id="65" name="Text 63"/>
          <p:cNvSpPr txBox="1"/>
          <p:nvPr/>
        </p:nvSpPr>
        <p:spPr>
          <a:xfrm>
            <a:off x="8074152" y="6446520"/>
            <a:ext cx="3657600" cy="274320"/>
          </a:xfrm>
          <a:prstGeom prst="rect">
            <a:avLst/>
          </a:prstGeom>
          <a:noFill/>
          <a:ln/>
        </p:spPr>
        <p:txBody>
          <a:bodyPr wrap="square" lIns="0" tIns="0" rIns="0" bIns="0" rtlCol="0" anchor="ctr"/>
          <a:lstStyle/>
          <a:p>
            <a:pPr marL="0" indent="0" algn="r">
              <a:buNone/>
            </a:pPr>
            <a:r>
              <a:rPr lang="en-US" sz="900" kern="0" spc="100" dirty="0">
                <a:solidFill>
                  <a:srgbClr val="A7B1C9"/>
                </a:solidFill>
                <a:latin typeface="Calibri" pitchFamily="34" charset="0"/>
                <a:ea typeface="Calibri" pitchFamily="34" charset="-122"/>
                <a:cs typeface="Calibri" pitchFamily="34" charset="-120"/>
              </a:rPr>
              <a:t>COMPETITOR COMPARISON</a:t>
            </a:r>
            <a:endParaRPr lang="en-US" sz="900" dirty="0"/>
          </a:p>
        </p:txBody>
      </p:sp>
      <p:sp>
        <p:nvSpPr>
          <p:cNvPr id="900" name="Added text"/>
          <p:cNvSpPr/>
          <p:nvPr>
            <p:txBox/>
          </p:nvPr>
        </p:nvSpPr>
        <p:spPr>
          <a:xfrm>
            <a:off x="1000000" y="1700000"/>
            <a:ext cx="10000000" cy="2600000"/>
          </a:xfrm>
          <a:noFill/>
          <a:ln>
            <a:noFill/>
          </a:ln>
        </p:spPr>
        <p:txBody>
          <a:bodyPr wrap="square" anchor="t"/>
          <a:lstStyle/>
          <a:p>
            <a:r>
              <a:rPr lang="en-US" sz="1700" b="0">
                <a:solidFill>
                  <a:srgbClr val="202020"/>
                </a:solidFill>
                <a:latin typeface="Aptos"/>
              </a:rPr>
              <a:t>Frontier-only APIs  |  High quality, high cost</a:t>
            </a:r>
            <a:endParaRPr lang="en-US" sz="1700"/>
          </a:p>
          <a:p>
            <a:r>
              <a:rPr lang="en-US" sz="1700" b="0">
                <a:solidFill>
                  <a:srgbClr val="202020"/>
                </a:solidFill>
                <a:latin typeface="Aptos"/>
              </a:rPr>
              <a:t>Manual routing  |  Slow, brittle, no live economics</a:t>
            </a:r>
            <a:endParaRPr lang="en-US" sz="1700"/>
          </a:p>
          <a:p>
            <a:r>
              <a:rPr lang="en-US" sz="1700" b="0">
                <a:solidFill>
                  <a:srgbClr val="202020"/>
                </a:solidFill>
                <a:latin typeface="Aptos"/>
              </a:rPr>
              <a:t>TrimToken AI  |  Adaptive routing, measurable savings, failover</a:t>
            </a:r>
            <a:endParaRPr lang="en-US" sz="17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74980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Social &amp; Regional Impact</a:t>
            </a:r>
            <a:endParaRPr lang="en-US" sz="3200" dirty="0"/>
          </a:p>
        </p:txBody>
      </p:sp>
      <p:sp>
        <p:nvSpPr>
          <p:cNvPr id="6" name="Text 3"/>
          <p:cNvSpPr txBox="1"/>
          <p:nvPr/>
        </p:nvSpPr>
        <p:spPr>
          <a:xfrm>
            <a:off x="1737360" y="2011680"/>
            <a:ext cx="9692640" cy="731520"/>
          </a:xfrm>
          <a:prstGeom prst="rect">
            <a:avLst/>
          </a:prstGeom>
          <a:noFill/>
          <a:ln/>
        </p:spPr>
        <p:txBody>
          <a:bodyPr wrap="square" lIns="0" tIns="0" rIns="0" bIns="0" rtlCol="0" anchor="ctr"/>
          <a:lstStyle/>
          <a:p>
            <a:pPr marL="0" indent="0">
              <a:buNone/>
            </a:pPr>
            <a:r>
              <a:rPr lang="en-US" sz="1400" i="1" dirty="0">
                <a:solidFill>
                  <a:srgbClr val="5B6785"/>
                </a:solidFill>
                <a:latin typeface="Calibri" pitchFamily="34" charset="0"/>
                <a:ea typeface="Calibri" pitchFamily="34" charset="-122"/>
                <a:cs typeface="Calibri" pitchFamily="34" charset="-120"/>
              </a:rPr>
              <a:t>Lower-cost AI makes advanced capabilities more accessible to startups, schools, nonprofits, and regional businesses. By using smaller models for simpler work, TrimToken also reduces wasted compute and supports more sustainable AI adoption.</a:t>
            </a:r>
            <a:endParaRPr lang="en-US" sz="1400" dirty="0"/>
          </a:p>
        </p:txBody>
      </p:sp>
      <p:sp>
        <p:nvSpPr>
          <p:cNvPr id="23" name="Text 20"/>
          <p:cNvSpPr txBox="1"/>
          <p:nvPr/>
        </p:nvSpPr>
        <p:spPr>
          <a:xfrm>
            <a:off x="548640" y="6446520"/>
            <a:ext cx="914400" cy="274320"/>
          </a:xfrm>
          <a:prstGeom prst="rect">
            <a:avLst/>
          </a:prstGeom>
          <a:noFill/>
          <a:ln/>
        </p:spPr>
        <p:txBody>
          <a:bodyPr wrap="square" lIns="0" tIns="0" rIns="0" bIns="0" rtlCol="0" anchor="ctr"/>
          <a:lstStyle/>
          <a:p>
            <a:pPr marL="0" indent="0">
              <a:buNone/>
            </a:pPr>
            <a:r>
              <a:rPr lang="en-US" sz="900" dirty="0">
                <a:solidFill>
                  <a:srgbClr val="A7B1C9"/>
                </a:solidFill>
                <a:latin typeface="Calibri" pitchFamily="34" charset="0"/>
                <a:ea typeface="Calibri" pitchFamily="34" charset="-122"/>
                <a:cs typeface="Calibri" pitchFamily="34" charset="-120"/>
              </a:rPr>
              <a:t>08</a:t>
            </a:r>
            <a:endParaRPr lang="en-US" sz="900" dirty="0"/>
          </a:p>
        </p:txBody>
      </p:sp>
      <p:sp>
        <p:nvSpPr>
          <p:cNvPr id="24" name="Text 21"/>
          <p:cNvSpPr txBox="1"/>
          <p:nvPr/>
        </p:nvSpPr>
        <p:spPr>
          <a:xfrm>
            <a:off x="8074152" y="6446520"/>
            <a:ext cx="3657600" cy="274320"/>
          </a:xfrm>
          <a:prstGeom prst="rect">
            <a:avLst/>
          </a:prstGeom>
          <a:noFill/>
          <a:ln/>
        </p:spPr>
        <p:txBody>
          <a:bodyPr wrap="square" lIns="0" tIns="0" rIns="0" bIns="0" rtlCol="0" anchor="ctr"/>
          <a:lstStyle/>
          <a:p>
            <a:pPr marL="0" indent="0" algn="r">
              <a:buNone/>
            </a:pPr>
            <a:r>
              <a:rPr lang="en-US" sz="900" kern="0" spc="100" dirty="0">
                <a:solidFill>
                  <a:srgbClr val="A7B1C9"/>
                </a:solidFill>
                <a:latin typeface="Calibri" pitchFamily="34" charset="0"/>
                <a:ea typeface="Calibri" pitchFamily="34" charset="-122"/>
                <a:cs typeface="Calibri" pitchFamily="34" charset="-120"/>
              </a:rPr>
              <a:t>SOCIAL &amp; REGIONAL IMPACT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3" name="Text 1"/>
          <p:cNvSpPr txBox="1"/>
          <p:nvPr/>
        </p:nvSpPr>
        <p:spPr>
          <a:xfrm>
            <a:off x="548640" y="749808"/>
            <a:ext cx="105156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Market Opportunity</a:t>
            </a:r>
            <a:endParaRPr lang="en-US" sz="3200" dirty="0"/>
          </a:p>
        </p:txBody>
      </p:sp>
      <p:sp>
        <p:nvSpPr>
          <p:cNvPr id="21" name="Text 19"/>
          <p:cNvSpPr txBox="1"/>
          <p:nvPr/>
        </p:nvSpPr>
        <p:spPr>
          <a:xfrm>
            <a:off x="548640" y="6446520"/>
            <a:ext cx="914400" cy="274320"/>
          </a:xfrm>
          <a:prstGeom prst="rect">
            <a:avLst/>
          </a:prstGeom>
          <a:noFill/>
          <a:ln/>
        </p:spPr>
        <p:txBody>
          <a:bodyPr wrap="square" lIns="0" tIns="0" rIns="0" bIns="0" rtlCol="0" anchor="ctr"/>
          <a:lstStyle/>
          <a:p>
            <a:pPr marL="0" indent="0">
              <a:buNone/>
            </a:pPr>
            <a:r>
              <a:rPr lang="en-US" sz="900" dirty="0">
                <a:solidFill>
                  <a:srgbClr val="8C9BC4"/>
                </a:solidFill>
                <a:latin typeface="Calibri" pitchFamily="34" charset="0"/>
                <a:ea typeface="Calibri" pitchFamily="34" charset="-122"/>
                <a:cs typeface="Calibri" pitchFamily="34" charset="-120"/>
              </a:rPr>
              <a:t>09</a:t>
            </a:r>
            <a:endParaRPr lang="en-US" sz="900" dirty="0"/>
          </a:p>
        </p:txBody>
      </p:sp>
      <p:sp>
        <p:nvSpPr>
          <p:cNvPr id="22" name="Text 20"/>
          <p:cNvSpPr txBox="1"/>
          <p:nvPr/>
        </p:nvSpPr>
        <p:spPr>
          <a:xfrm>
            <a:off x="8074152" y="6446520"/>
            <a:ext cx="3657600" cy="274320"/>
          </a:xfrm>
          <a:prstGeom prst="rect">
            <a:avLst/>
          </a:prstGeom>
          <a:noFill/>
          <a:ln/>
        </p:spPr>
        <p:txBody>
          <a:bodyPr wrap="square" lIns="0" tIns="0" rIns="0" bIns="0" rtlCol="0" anchor="ctr"/>
          <a:lstStyle/>
          <a:p>
            <a:pPr marL="0" indent="0" algn="r">
              <a:buNone/>
            </a:pPr>
            <a:r>
              <a:rPr lang="en-US" sz="900" kern="0" spc="100" dirty="0">
                <a:solidFill>
                  <a:srgbClr val="8C9BC4"/>
                </a:solidFill>
                <a:latin typeface="Calibri" pitchFamily="34" charset="0"/>
                <a:ea typeface="Calibri" pitchFamily="34" charset="-122"/>
                <a:cs typeface="Calibri" pitchFamily="34" charset="-120"/>
              </a:rPr>
              <a:t>MARKET OPPORTUNITY</a:t>
            </a:r>
            <a:endParaRPr lang="en-US" sz="900" dirty="0"/>
          </a:p>
        </p:txBody>
      </p:sp>
      <p:sp>
        <p:nvSpPr>
          <p:cNvPr id="900" name="Added text"/>
          <p:cNvSpPr/>
          <p:nvPr>
            <p:txBox/>
          </p:nvPr>
        </p:nvSpPr>
        <p:spPr>
          <a:xfrm>
            <a:off x="1300000" y="1900000"/>
            <a:ext cx="9500000" cy="1800000"/>
          </a:xfrm>
          <a:noFill/>
          <a:ln>
            <a:noFill/>
          </a:ln>
        </p:spPr>
        <p:txBody>
          <a:bodyPr wrap="square" anchor="t"/>
          <a:lstStyle/>
          <a:p>
            <a:r>
              <a:rPr lang="en-US" sz="1800" b="0">
                <a:solidFill>
                  <a:srgbClr val="202020"/>
                </a:solidFill>
                <a:latin typeface="Aptos"/>
              </a:rPr>
              <a:t>Every AI application is becoming a multi-model workload.</a:t>
            </a:r>
            <a:endParaRPr lang="en-US" sz="1800"/>
          </a:p>
          <a:p>
            <a:r>
              <a:rPr lang="en-US" sz="1800" b="0">
                <a:solidFill>
                  <a:srgbClr val="202020"/>
                </a:solidFill>
                <a:latin typeface="Aptos"/>
              </a:rPr>
              <a:t>Our wedge: startups and enterprise teams that need lower inference cost now.</a:t>
            </a:r>
            <a:endParaRPr lang="en-US" sz="1800"/>
          </a:p>
          <a:p>
            <a:r>
              <a:rPr lang="en-US" sz="1800" b="0">
                <a:solidFill>
                  <a:srgbClr val="202020"/>
                </a:solidFill>
                <a:latin typeface="Aptos"/>
              </a:rPr>
              <a:t>Expansion: analytics, governance, private deployments, and multi-cloud optimization.</a:t>
            </a:r>
            <a:endParaRPr lang="en-US"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00" b="1" kern="0" spc="150" dirty="0">
                <a:solidFill>
                  <a:srgbClr val="3E5C9A"/>
                </a:solidFill>
                <a:latin typeface="Calibri" pitchFamily="34" charset="0"/>
                <a:ea typeface="Calibri" pitchFamily="34" charset="-122"/>
                <a:cs typeface="Calibri" pitchFamily="34" charset="-120"/>
              </a:rPr>
              <a:t>WHO'S BUILDING THIS</a:t>
            </a:r>
            <a:endParaRPr lang="en-US" sz="1200" dirty="0"/>
          </a:p>
        </p:txBody>
      </p:sp>
      <p:sp>
        <p:nvSpPr>
          <p:cNvPr id="3" name="Text 1"/>
          <p:cNvSpPr txBox="1"/>
          <p:nvPr/>
        </p:nvSpPr>
        <p:spPr>
          <a:xfrm>
            <a:off x="548640" y="74980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TrimToken AI Team</a:t>
            </a:r>
            <a:endParaRPr lang="en-US" sz="3200" dirty="0"/>
          </a:p>
        </p:txBody>
      </p:sp>
      <p:sp>
        <p:nvSpPr>
          <p:cNvPr id="4" name="Shape 2"/>
          <p:cNvSpPr/>
          <p:nvPr/>
        </p:nvSpPr>
        <p:spPr>
          <a:xfrm>
            <a:off x="548640" y="1965960"/>
            <a:ext cx="2514600" cy="3520440"/>
          </a:xfrm>
          <a:prstGeom prst="roundRect">
            <a:avLst>
              <a:gd name="adj" fmla="val 2909"/>
            </a:avLst>
          </a:prstGeom>
          <a:solidFill>
            <a:srgbClr val="F4F6FC"/>
          </a:solidFill>
          <a:ln/>
        </p:spPr>
      </p:sp>
      <p:sp>
        <p:nvSpPr>
          <p:cNvPr id="5" name="Shape 3"/>
          <p:cNvSpPr/>
          <p:nvPr/>
        </p:nvSpPr>
        <p:spPr>
          <a:xfrm>
            <a:off x="1303020" y="2240280"/>
            <a:ext cx="1005840" cy="1005840"/>
          </a:xfrm>
          <a:prstGeom prst="ellipse">
            <a:avLst/>
          </a:prstGeom>
          <a:solidFill>
            <a:srgbClr val="1E2761"/>
          </a:solidFill>
          <a:ln/>
        </p:spPr>
      </p:sp>
      <p:pic>
        <p:nvPicPr>
          <p:cNvPr id="6" name="Image 0" descr="/home/claude/pitch_template/icon_users.png"/>
          <p:cNvPicPr>
            <a:picLocks noChangeAspect="1"/>
          </p:cNvPicPr>
          <p:nvPr/>
        </p:nvPicPr>
        <p:blipFill>
          <a:blip r:embed="rId3"/>
          <a:stretch>
            <a:fillRect/>
          </a:stretch>
        </p:blipFill>
        <p:spPr>
          <a:xfrm>
            <a:off x="1531620" y="2468880"/>
            <a:ext cx="548640" cy="548640"/>
          </a:xfrm>
          <a:prstGeom prst="rect">
            <a:avLst/>
          </a:prstGeom>
        </p:spPr>
      </p:pic>
      <p:sp>
        <p:nvSpPr>
          <p:cNvPr id="7" name="Text 4"/>
          <p:cNvSpPr txBox="1"/>
          <p:nvPr/>
        </p:nvSpPr>
        <p:spPr>
          <a:xfrm>
            <a:off x="685800" y="3383280"/>
            <a:ext cx="2240280" cy="320040"/>
          </a:xfrm>
          <a:prstGeom prst="rect">
            <a:avLst/>
          </a:prstGeom>
          <a:noFill/>
          <a:ln/>
        </p:spPr>
        <p:txBody>
          <a:bodyPr wrap="square" lIns="0" tIns="0" rIns="0" bIns="0" rtlCol="0" anchor="ctr"/>
          <a:lstStyle/>
          <a:p>
            <a:pPr marL="0" indent="0" algn="ctr">
              <a:buNone/>
            </a:pPr>
            <a:r>
              <a:rPr lang="en-US" sz="1250" b="1" dirty="0">
                <a:solidFill>
                  <a:srgbClr val="1E2761"/>
                </a:solidFill>
                <a:latin typeface="Calibri" pitchFamily="34" charset="0"/>
                <a:ea typeface="Calibri" pitchFamily="34" charset="-122"/>
                <a:cs typeface="Calibri" pitchFamily="34" charset="-120"/>
              </a:rPr>
              <a:t>Core technical team</a:t>
            </a:r>
            <a:endParaRPr lang="en-US" sz="1250" dirty="0"/>
          </a:p>
        </p:txBody>
      </p:sp>
      <p:sp>
        <p:nvSpPr>
          <p:cNvPr id="8" name="Text 5"/>
          <p:cNvSpPr txBox="1"/>
          <p:nvPr/>
        </p:nvSpPr>
        <p:spPr>
          <a:xfrm>
            <a:off x="685800" y="3685032"/>
            <a:ext cx="2240280" cy="274320"/>
          </a:xfrm>
          <a:prstGeom prst="rect">
            <a:avLst/>
          </a:prstGeom>
          <a:noFill/>
          <a:ln/>
        </p:spPr>
        <p:txBody>
          <a:bodyPr wrap="square" lIns="0" tIns="0" rIns="0" bIns="0" rtlCol="0" anchor="ctr"/>
          <a:lstStyle/>
          <a:p>
            <a:pPr marL="0" indent="0" algn="ctr">
              <a:buNone/>
            </a:pPr>
            <a:r>
              <a:rPr lang="en-US" sz="1050" b="1" dirty="0">
                <a:solidFill>
                  <a:srgbClr val="3E5C9A"/>
                </a:solidFill>
                <a:latin typeface="Calibri" pitchFamily="34" charset="0"/>
                <a:ea typeface="Calibri" pitchFamily="34" charset="-122"/>
                <a:cs typeface="Calibri" pitchFamily="34" charset="-120"/>
              </a:rPr>
              <a:t>Product, engineering &amp; AI systems</a:t>
            </a:r>
            <a:endParaRPr lang="en-US" sz="1050" dirty="0"/>
          </a:p>
        </p:txBody>
      </p:sp>
      <p:sp>
        <p:nvSpPr>
          <p:cNvPr id="9" name="Shape 6"/>
          <p:cNvSpPr/>
          <p:nvPr/>
        </p:nvSpPr>
        <p:spPr>
          <a:xfrm>
            <a:off x="914400" y="4041648"/>
            <a:ext cx="1783080" cy="0"/>
          </a:xfrm>
          <a:prstGeom prst="line">
            <a:avLst/>
          </a:prstGeom>
          <a:noFill/>
          <a:ln w="12700">
            <a:solidFill>
              <a:srgbClr val="D6DCF0"/>
            </a:solidFill>
            <a:prstDash val="solid"/>
          </a:ln>
        </p:spPr>
      </p:sp>
      <p:sp>
        <p:nvSpPr>
          <p:cNvPr id="10" name="Text 7"/>
          <p:cNvSpPr txBox="1"/>
          <p:nvPr/>
        </p:nvSpPr>
        <p:spPr>
          <a:xfrm>
            <a:off x="731520" y="4160520"/>
            <a:ext cx="2148840" cy="1188720"/>
          </a:xfrm>
          <a:prstGeom prst="rect">
            <a:avLst/>
          </a:prstGeom>
          <a:noFill/>
          <a:ln/>
        </p:spPr>
        <p:txBody>
          <a:bodyPr wrap="square" lIns="0" tIns="0" rIns="0" bIns="0" rtlCol="0" anchor="ctr"/>
          <a:lstStyle/>
          <a:p>
            <a:pPr marL="0" indent="0" algn="ctr">
              <a:lnSpc>
                <a:spcPct val="120000"/>
              </a:lnSpc>
              <a:buNone/>
            </a:pPr>
            <a:r>
              <a:rPr lang="en-US" sz="1000" i="1" dirty="0">
                <a:solidFill>
                  <a:srgbClr val="5B6785"/>
                </a:solidFill>
                <a:latin typeface="Calibri" pitchFamily="34" charset="0"/>
                <a:ea typeface="Calibri" pitchFamily="34" charset="-122"/>
                <a:cs typeface="Calibri" pitchFamily="34" charset="-120"/>
              </a:rPr>
              <a:t>Focused on intelligent dispatch, multi-model systems, and production-ready developer tooling.</a:t>
            </a:r>
            <a:endParaRPr lang="en-US" sz="1000" dirty="0"/>
          </a:p>
        </p:txBody>
      </p:sp>
      <p:sp>
        <p:nvSpPr>
          <p:cNvPr id="11" name="Shape 8"/>
          <p:cNvSpPr/>
          <p:nvPr/>
        </p:nvSpPr>
        <p:spPr>
          <a:xfrm>
            <a:off x="3337560" y="1965960"/>
            <a:ext cx="2514600" cy="3520440"/>
          </a:xfrm>
          <a:prstGeom prst="roundRect">
            <a:avLst>
              <a:gd name="adj" fmla="val 2909"/>
            </a:avLst>
          </a:prstGeom>
          <a:solidFill>
            <a:srgbClr val="F4F6FC"/>
          </a:solidFill>
          <a:ln/>
        </p:spPr>
      </p:sp>
      <p:sp>
        <p:nvSpPr>
          <p:cNvPr id="12" name="Shape 9"/>
          <p:cNvSpPr/>
          <p:nvPr/>
        </p:nvSpPr>
        <p:spPr>
          <a:xfrm>
            <a:off x="4091940" y="2240280"/>
            <a:ext cx="1005840" cy="1005840"/>
          </a:xfrm>
          <a:prstGeom prst="ellipse">
            <a:avLst/>
          </a:prstGeom>
          <a:solidFill>
            <a:srgbClr val="1E2761"/>
          </a:solidFill>
          <a:ln/>
        </p:spPr>
      </p:sp>
      <p:pic>
        <p:nvPicPr>
          <p:cNvPr id="13" name="Image 1" descr="/home/claude/pitch_template/icon_users.png"/>
          <p:cNvPicPr>
            <a:picLocks noChangeAspect="1"/>
          </p:cNvPicPr>
          <p:nvPr/>
        </p:nvPicPr>
        <p:blipFill>
          <a:blip r:embed="rId3"/>
          <a:stretch>
            <a:fillRect/>
          </a:stretch>
        </p:blipFill>
        <p:spPr>
          <a:xfrm>
            <a:off x="4320540" y="2468880"/>
            <a:ext cx="548640" cy="548640"/>
          </a:xfrm>
          <a:prstGeom prst="rect">
            <a:avLst/>
          </a:prstGeom>
        </p:spPr>
      </p:pic>
      <p:sp>
        <p:nvSpPr>
          <p:cNvPr id="14" name="Text 10"/>
          <p:cNvSpPr txBox="1"/>
          <p:nvPr/>
        </p:nvSpPr>
        <p:spPr>
          <a:xfrm>
            <a:off x="3474720" y="3383280"/>
            <a:ext cx="2240280" cy="320040"/>
          </a:xfrm>
          <a:prstGeom prst="rect">
            <a:avLst/>
          </a:prstGeom>
          <a:noFill/>
          <a:ln/>
        </p:spPr>
        <p:txBody>
          <a:bodyPr wrap="square" lIns="0" tIns="0" rIns="0" bIns="0" rtlCol="0" anchor="ctr"/>
          <a:lstStyle/>
          <a:p>
            <a:pPr marL="0" indent="0" algn="ctr">
              <a:buNone/>
            </a:pPr>
            <a:r>
              <a:rPr lang="en-US" sz="1250" b="1" dirty="0">
                <a:solidFill>
                  <a:srgbClr val="1E2761"/>
                </a:solidFill>
                <a:latin typeface="Calibri" pitchFamily="34" charset="0"/>
                <a:ea typeface="Calibri" pitchFamily="34" charset="-122"/>
                <a:cs typeface="Calibri" pitchFamily="34" charset="-120"/>
              </a:rPr>
              <a:t>Core technical team</a:t>
            </a:r>
            <a:endParaRPr lang="en-US" sz="1250" dirty="0"/>
          </a:p>
        </p:txBody>
      </p:sp>
      <p:sp>
        <p:nvSpPr>
          <p:cNvPr id="15" name="Text 11"/>
          <p:cNvSpPr txBox="1"/>
          <p:nvPr/>
        </p:nvSpPr>
        <p:spPr>
          <a:xfrm>
            <a:off x="3474720" y="3685032"/>
            <a:ext cx="2240280" cy="274320"/>
          </a:xfrm>
          <a:prstGeom prst="rect">
            <a:avLst/>
          </a:prstGeom>
          <a:noFill/>
          <a:ln/>
        </p:spPr>
        <p:txBody>
          <a:bodyPr wrap="square" lIns="0" tIns="0" rIns="0" bIns="0" rtlCol="0" anchor="ctr"/>
          <a:lstStyle/>
          <a:p>
            <a:pPr marL="0" indent="0" algn="ctr">
              <a:buNone/>
            </a:pPr>
            <a:r>
              <a:rPr lang="en-US" sz="1050" b="1" dirty="0">
                <a:solidFill>
                  <a:srgbClr val="3E5C9A"/>
                </a:solidFill>
                <a:latin typeface="Calibri" pitchFamily="34" charset="0"/>
                <a:ea typeface="Calibri" pitchFamily="34" charset="-122"/>
                <a:cs typeface="Calibri" pitchFamily="34" charset="-120"/>
              </a:rPr>
              <a:t>Routing, backend &amp; model optimization</a:t>
            </a:r>
            <a:endParaRPr lang="en-US" sz="1050" dirty="0"/>
          </a:p>
        </p:txBody>
      </p:sp>
      <p:sp>
        <p:nvSpPr>
          <p:cNvPr id="16" name="Shape 12"/>
          <p:cNvSpPr/>
          <p:nvPr/>
        </p:nvSpPr>
        <p:spPr>
          <a:xfrm>
            <a:off x="3703320" y="4041648"/>
            <a:ext cx="1783080" cy="0"/>
          </a:xfrm>
          <a:prstGeom prst="line">
            <a:avLst/>
          </a:prstGeom>
          <a:noFill/>
          <a:ln w="12700">
            <a:solidFill>
              <a:srgbClr val="D6DCF0"/>
            </a:solidFill>
            <a:prstDash val="solid"/>
          </a:ln>
        </p:spPr>
      </p:sp>
      <p:sp>
        <p:nvSpPr>
          <p:cNvPr id="17" name="Text 13"/>
          <p:cNvSpPr txBox="1"/>
          <p:nvPr/>
        </p:nvSpPr>
        <p:spPr>
          <a:xfrm>
            <a:off x="3520440" y="4160520"/>
            <a:ext cx="2148840" cy="1188720"/>
          </a:xfrm>
          <a:prstGeom prst="rect">
            <a:avLst/>
          </a:prstGeom>
          <a:noFill/>
          <a:ln/>
        </p:spPr>
        <p:txBody>
          <a:bodyPr wrap="square" lIns="0" tIns="0" rIns="0" bIns="0" rtlCol="0" anchor="ctr"/>
          <a:lstStyle/>
          <a:p>
            <a:pPr marL="0" indent="0" algn="ctr">
              <a:lnSpc>
                <a:spcPct val="120000"/>
              </a:lnSpc>
              <a:buNone/>
            </a:pPr>
            <a:r>
              <a:rPr lang="en-US" sz="1000" i="1" dirty="0">
                <a:solidFill>
                  <a:srgbClr val="5B6785"/>
                </a:solidFill>
                <a:latin typeface="Calibri" pitchFamily="34" charset="0"/>
                <a:ea typeface="Calibri" pitchFamily="34" charset="-122"/>
                <a:cs typeface="Calibri" pitchFamily="34" charset="-120"/>
              </a:rPr>
              <a:t>Focused on intelligent dispatch, multi-model systems, and production-ready developer tooling.</a:t>
            </a:r>
            <a:endParaRPr lang="en-US" sz="1000" dirty="0"/>
          </a:p>
        </p:txBody>
      </p:sp>
      <p:sp>
        <p:nvSpPr>
          <p:cNvPr id="18" name="Shape 14"/>
          <p:cNvSpPr/>
          <p:nvPr/>
        </p:nvSpPr>
        <p:spPr>
          <a:xfrm>
            <a:off x="6126480" y="1965960"/>
            <a:ext cx="2514600" cy="3520440"/>
          </a:xfrm>
          <a:prstGeom prst="roundRect">
            <a:avLst>
              <a:gd name="adj" fmla="val 2909"/>
            </a:avLst>
          </a:prstGeom>
          <a:solidFill>
            <a:srgbClr val="F4F6FC"/>
          </a:solidFill>
          <a:ln/>
        </p:spPr>
      </p:sp>
      <p:sp>
        <p:nvSpPr>
          <p:cNvPr id="19" name="Shape 15"/>
          <p:cNvSpPr/>
          <p:nvPr/>
        </p:nvSpPr>
        <p:spPr>
          <a:xfrm>
            <a:off x="6880860" y="2240280"/>
            <a:ext cx="1005840" cy="1005840"/>
          </a:xfrm>
          <a:prstGeom prst="ellipse">
            <a:avLst/>
          </a:prstGeom>
          <a:solidFill>
            <a:srgbClr val="1E2761"/>
          </a:solidFill>
          <a:ln/>
        </p:spPr>
      </p:sp>
      <p:pic>
        <p:nvPicPr>
          <p:cNvPr id="20" name="Image 2" descr="/home/claude/pitch_template/icon_users.png"/>
          <p:cNvPicPr>
            <a:picLocks noChangeAspect="1"/>
          </p:cNvPicPr>
          <p:nvPr/>
        </p:nvPicPr>
        <p:blipFill>
          <a:blip r:embed="rId3"/>
          <a:stretch>
            <a:fillRect/>
          </a:stretch>
        </p:blipFill>
        <p:spPr>
          <a:xfrm>
            <a:off x="7109460" y="2468880"/>
            <a:ext cx="548640" cy="548640"/>
          </a:xfrm>
          <a:prstGeom prst="rect">
            <a:avLst/>
          </a:prstGeom>
        </p:spPr>
      </p:pic>
      <p:sp>
        <p:nvSpPr>
          <p:cNvPr id="21" name="Text 16"/>
          <p:cNvSpPr txBox="1"/>
          <p:nvPr/>
        </p:nvSpPr>
        <p:spPr>
          <a:xfrm>
            <a:off x="6263640" y="3383280"/>
            <a:ext cx="2240280" cy="320040"/>
          </a:xfrm>
          <a:prstGeom prst="rect">
            <a:avLst/>
          </a:prstGeom>
          <a:noFill/>
          <a:ln/>
        </p:spPr>
        <p:txBody>
          <a:bodyPr wrap="square" lIns="0" tIns="0" rIns="0" bIns="0" rtlCol="0" anchor="ctr"/>
          <a:lstStyle/>
          <a:p>
            <a:pPr marL="0" indent="0" algn="ctr">
              <a:buNone/>
            </a:pPr>
            <a:r>
              <a:rPr lang="en-US" sz="1250" b="1" dirty="0">
                <a:solidFill>
                  <a:srgbClr val="1E2761"/>
                </a:solidFill>
                <a:latin typeface="Calibri" pitchFamily="34" charset="0"/>
                <a:ea typeface="Calibri" pitchFamily="34" charset="-122"/>
                <a:cs typeface="Calibri" pitchFamily="34" charset="-120"/>
              </a:rPr>
              <a:t>Advisors / pilot partners</a:t>
            </a:r>
            <a:endParaRPr lang="en-US" sz="1250" dirty="0"/>
          </a:p>
        </p:txBody>
      </p:sp>
      <p:sp>
        <p:nvSpPr>
          <p:cNvPr id="22" name="Text 17"/>
          <p:cNvSpPr txBox="1"/>
          <p:nvPr/>
        </p:nvSpPr>
        <p:spPr>
          <a:xfrm>
            <a:off x="6263640" y="3685032"/>
            <a:ext cx="2240280" cy="274320"/>
          </a:xfrm>
          <a:prstGeom prst="rect">
            <a:avLst/>
          </a:prstGeom>
          <a:noFill/>
          <a:ln/>
        </p:spPr>
        <p:txBody>
          <a:bodyPr wrap="square" lIns="0" tIns="0" rIns="0" bIns="0" rtlCol="0" anchor="ctr"/>
          <a:lstStyle/>
          <a:p>
            <a:pPr marL="0" indent="0" algn="ctr">
              <a:buNone/>
            </a:pPr>
            <a:r>
              <a:rPr lang="en-US" sz="1050" b="1" dirty="0">
                <a:solidFill>
                  <a:srgbClr val="3E5C9A"/>
                </a:solidFill>
                <a:latin typeface="Calibri" pitchFamily="34" charset="0"/>
                <a:ea typeface="Calibri" pitchFamily="34" charset="-122"/>
                <a:cs typeface="Calibri" pitchFamily="34" charset="-120"/>
              </a:rPr>
              <a:t>Customer discovery &amp; deployment</a:t>
            </a:r>
            <a:endParaRPr lang="en-US" sz="1050" dirty="0"/>
          </a:p>
        </p:txBody>
      </p:sp>
      <p:sp>
        <p:nvSpPr>
          <p:cNvPr id="23" name="Shape 18"/>
          <p:cNvSpPr/>
          <p:nvPr/>
        </p:nvSpPr>
        <p:spPr>
          <a:xfrm>
            <a:off x="6492240" y="4041648"/>
            <a:ext cx="1783080" cy="0"/>
          </a:xfrm>
          <a:prstGeom prst="line">
            <a:avLst/>
          </a:prstGeom>
          <a:noFill/>
          <a:ln w="12700">
            <a:solidFill>
              <a:srgbClr val="D6DCF0"/>
            </a:solidFill>
            <a:prstDash val="solid"/>
          </a:ln>
        </p:spPr>
      </p:sp>
      <p:sp>
        <p:nvSpPr>
          <p:cNvPr id="24" name="Text 19"/>
          <p:cNvSpPr txBox="1"/>
          <p:nvPr/>
        </p:nvSpPr>
        <p:spPr>
          <a:xfrm>
            <a:off x="6309360" y="4160520"/>
            <a:ext cx="2148840" cy="1188720"/>
          </a:xfrm>
          <a:prstGeom prst="rect">
            <a:avLst/>
          </a:prstGeom>
          <a:noFill/>
          <a:ln/>
        </p:spPr>
        <p:txBody>
          <a:bodyPr wrap="square" lIns="0" tIns="0" rIns="0" bIns="0" rtlCol="0" anchor="ctr"/>
          <a:lstStyle/>
          <a:p>
            <a:pPr marL="0" indent="0" algn="ctr">
              <a:lnSpc>
                <a:spcPct val="120000"/>
              </a:lnSpc>
              <a:buNone/>
            </a:pPr>
            <a:r>
              <a:rPr lang="en-US" sz="1000" i="1" dirty="0">
                <a:solidFill>
                  <a:srgbClr val="5B6785"/>
                </a:solidFill>
                <a:latin typeface="Calibri" pitchFamily="34" charset="0"/>
                <a:ea typeface="Calibri" pitchFamily="34" charset="-122"/>
                <a:cs typeface="Calibri" pitchFamily="34" charset="-120"/>
              </a:rPr>
              <a:t>Helping validate measurable savings with real AI workloads.</a:t>
            </a:r>
            <a:endParaRPr lang="en-US" sz="1000" dirty="0"/>
          </a:p>
        </p:txBody>
      </p:sp>
      <p:sp>
        <p:nvSpPr>
          <p:cNvPr id="25" name="Shape 20"/>
          <p:cNvSpPr/>
          <p:nvPr/>
        </p:nvSpPr>
        <p:spPr>
          <a:xfrm>
            <a:off x="8915400" y="1965960"/>
            <a:ext cx="2514600" cy="3520440"/>
          </a:xfrm>
          <a:prstGeom prst="roundRect">
            <a:avLst>
              <a:gd name="adj" fmla="val 2909"/>
            </a:avLst>
          </a:prstGeom>
          <a:solidFill>
            <a:srgbClr val="F4F6FC"/>
          </a:solidFill>
          <a:ln/>
        </p:spPr>
      </p:sp>
      <p:sp>
        <p:nvSpPr>
          <p:cNvPr id="26" name="Shape 21"/>
          <p:cNvSpPr/>
          <p:nvPr/>
        </p:nvSpPr>
        <p:spPr>
          <a:xfrm>
            <a:off x="9669780" y="2240280"/>
            <a:ext cx="1005840" cy="1005840"/>
          </a:xfrm>
          <a:prstGeom prst="ellipse">
            <a:avLst/>
          </a:prstGeom>
          <a:solidFill>
            <a:srgbClr val="1E2761"/>
          </a:solidFill>
          <a:ln/>
        </p:spPr>
      </p:sp>
      <p:pic>
        <p:nvPicPr>
          <p:cNvPr id="27" name="Image 3" descr="/home/claude/pitch_template/icon_users.png"/>
          <p:cNvPicPr>
            <a:picLocks noChangeAspect="1"/>
          </p:cNvPicPr>
          <p:nvPr/>
        </p:nvPicPr>
        <p:blipFill>
          <a:blip r:embed="rId3"/>
          <a:stretch>
            <a:fillRect/>
          </a:stretch>
        </p:blipFill>
        <p:spPr>
          <a:xfrm>
            <a:off x="9898380" y="2468880"/>
            <a:ext cx="548640" cy="548640"/>
          </a:xfrm>
          <a:prstGeom prst="rect">
            <a:avLst/>
          </a:prstGeom>
        </p:spPr>
      </p:pic>
      <p:sp>
        <p:nvSpPr>
          <p:cNvPr id="28" name="Text 22"/>
          <p:cNvSpPr txBox="1"/>
          <p:nvPr/>
        </p:nvSpPr>
        <p:spPr>
          <a:xfrm>
            <a:off x="9052560" y="3383280"/>
            <a:ext cx="2240280" cy="320040"/>
          </a:xfrm>
          <a:prstGeom prst="rect">
            <a:avLst/>
          </a:prstGeom>
          <a:noFill/>
          <a:ln/>
        </p:spPr>
        <p:txBody>
          <a:bodyPr wrap="square" lIns="0" tIns="0" rIns="0" bIns="0" rtlCol="0" anchor="ctr"/>
          <a:lstStyle/>
          <a:p>
            <a:pPr marL="0" indent="0" algn="ctr">
              <a:buNone/>
            </a:pPr>
            <a:r>
              <a:rPr lang="en-US" sz="1250" b="1" dirty="0">
                <a:solidFill>
                  <a:srgbClr val="1E2761"/>
                </a:solidFill>
                <a:latin typeface="Calibri" pitchFamily="34" charset="0"/>
                <a:ea typeface="Calibri" pitchFamily="34" charset="-122"/>
                <a:cs typeface="Calibri" pitchFamily="34" charset="-120"/>
              </a:rPr>
              <a:t>Advisors / pilot partners</a:t>
            </a:r>
            <a:endParaRPr lang="en-US" sz="1250" dirty="0"/>
          </a:p>
        </p:txBody>
      </p:sp>
      <p:sp>
        <p:nvSpPr>
          <p:cNvPr id="29" name="Text 23"/>
          <p:cNvSpPr txBox="1"/>
          <p:nvPr/>
        </p:nvSpPr>
        <p:spPr>
          <a:xfrm>
            <a:off x="9052560" y="3685032"/>
            <a:ext cx="2240280" cy="274320"/>
          </a:xfrm>
          <a:prstGeom prst="rect">
            <a:avLst/>
          </a:prstGeom>
          <a:noFill/>
          <a:ln/>
        </p:spPr>
        <p:txBody>
          <a:bodyPr wrap="square" lIns="0" tIns="0" rIns="0" bIns="0" rtlCol="0" anchor="ctr"/>
          <a:lstStyle/>
          <a:p>
            <a:pPr marL="0" indent="0" algn="ctr">
              <a:buNone/>
            </a:pPr>
            <a:r>
              <a:rPr lang="en-US" sz="1050" b="1" dirty="0">
                <a:solidFill>
                  <a:srgbClr val="3E5C9A"/>
                </a:solidFill>
                <a:latin typeface="Calibri" pitchFamily="34" charset="0"/>
                <a:ea typeface="Calibri" pitchFamily="34" charset="-122"/>
                <a:cs typeface="Calibri" pitchFamily="34" charset="-120"/>
              </a:rPr>
              <a:t>Customer discovery &amp; deployment</a:t>
            </a:r>
            <a:endParaRPr lang="en-US" sz="1050" dirty="0"/>
          </a:p>
        </p:txBody>
      </p:sp>
      <p:sp>
        <p:nvSpPr>
          <p:cNvPr id="30" name="Shape 24"/>
          <p:cNvSpPr/>
          <p:nvPr/>
        </p:nvSpPr>
        <p:spPr>
          <a:xfrm>
            <a:off x="9281160" y="4041648"/>
            <a:ext cx="1783080" cy="0"/>
          </a:xfrm>
          <a:prstGeom prst="line">
            <a:avLst/>
          </a:prstGeom>
          <a:noFill/>
          <a:ln w="12700">
            <a:solidFill>
              <a:srgbClr val="D6DCF0"/>
            </a:solidFill>
            <a:prstDash val="solid"/>
          </a:ln>
        </p:spPr>
      </p:sp>
      <p:sp>
        <p:nvSpPr>
          <p:cNvPr id="31" name="Text 25"/>
          <p:cNvSpPr txBox="1"/>
          <p:nvPr/>
        </p:nvSpPr>
        <p:spPr>
          <a:xfrm>
            <a:off x="9098280" y="4160520"/>
            <a:ext cx="2148840" cy="1188720"/>
          </a:xfrm>
          <a:prstGeom prst="rect">
            <a:avLst/>
          </a:prstGeom>
          <a:noFill/>
          <a:ln/>
        </p:spPr>
        <p:txBody>
          <a:bodyPr wrap="square" lIns="0" tIns="0" rIns="0" bIns="0" rtlCol="0" anchor="ctr"/>
          <a:lstStyle/>
          <a:p>
            <a:pPr marL="0" indent="0" algn="ctr">
              <a:lnSpc>
                <a:spcPct val="120000"/>
              </a:lnSpc>
              <a:buNone/>
            </a:pPr>
            <a:r>
              <a:rPr lang="en-US" sz="1000" i="1" dirty="0">
                <a:solidFill>
                  <a:srgbClr val="5B6785"/>
                </a:solidFill>
                <a:latin typeface="Calibri" pitchFamily="34" charset="0"/>
                <a:ea typeface="Calibri" pitchFamily="34" charset="-122"/>
                <a:cs typeface="Calibri" pitchFamily="34" charset="-120"/>
              </a:rPr>
              <a:t>Helping validate measurable savings with real AI workloads.</a:t>
            </a:r>
            <a:endParaRPr lang="en-US" sz="1000" dirty="0"/>
          </a:p>
        </p:txBody>
      </p:sp>
      <p:sp>
        <p:nvSpPr>
          <p:cNvPr id="32" name="Text 26"/>
          <p:cNvSpPr txBox="1"/>
          <p:nvPr/>
        </p:nvSpPr>
        <p:spPr>
          <a:xfrm>
            <a:off x="548640" y="6446520"/>
            <a:ext cx="914400" cy="274320"/>
          </a:xfrm>
          <a:prstGeom prst="rect">
            <a:avLst/>
          </a:prstGeom>
          <a:noFill/>
          <a:ln/>
        </p:spPr>
        <p:txBody>
          <a:bodyPr wrap="square" lIns="0" tIns="0" rIns="0" bIns="0" rtlCol="0" anchor="ctr"/>
          <a:lstStyle/>
          <a:p>
            <a:pPr marL="0" indent="0">
              <a:buNone/>
            </a:pPr>
            <a:r>
              <a:rPr lang="en-US" sz="900" dirty="0">
                <a:solidFill>
                  <a:srgbClr val="A7B1C9"/>
                </a:solidFill>
                <a:latin typeface="Calibri" pitchFamily="34" charset="0"/>
                <a:ea typeface="Calibri" pitchFamily="34" charset="-122"/>
                <a:cs typeface="Calibri" pitchFamily="34" charset="-120"/>
              </a:rPr>
              <a:t>10</a:t>
            </a:r>
            <a:endParaRPr lang="en-US" sz="900" dirty="0"/>
          </a:p>
        </p:txBody>
      </p:sp>
      <p:sp>
        <p:nvSpPr>
          <p:cNvPr id="33" name="Text 27"/>
          <p:cNvSpPr txBox="1"/>
          <p:nvPr/>
        </p:nvSpPr>
        <p:spPr>
          <a:xfrm>
            <a:off x="8074152" y="6446520"/>
            <a:ext cx="3657600" cy="274320"/>
          </a:xfrm>
          <a:prstGeom prst="rect">
            <a:avLst/>
          </a:prstGeom>
          <a:noFill/>
          <a:ln/>
        </p:spPr>
        <p:txBody>
          <a:bodyPr wrap="square" lIns="0" tIns="0" rIns="0" bIns="0" rtlCol="0" anchor="ctr"/>
          <a:lstStyle/>
          <a:p>
            <a:pPr marL="0" indent="0" algn="r">
              <a:buNone/>
            </a:pPr>
            <a:r>
              <a:rPr lang="en-US" sz="900" kern="0" spc="100" dirty="0">
                <a:solidFill>
                  <a:srgbClr val="A7B1C9"/>
                </a:solidFill>
                <a:latin typeface="Calibri" pitchFamily="34" charset="0"/>
                <a:ea typeface="Calibri" pitchFamily="34" charset="-122"/>
                <a:cs typeface="Calibri" pitchFamily="34" charset="-120"/>
              </a:rPr>
              <a:t>TEAM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00" b="1" kern="0" spc="150" dirty="0">
                <a:solidFill>
                  <a:srgbClr val="3E5C9A"/>
                </a:solidFill>
                <a:latin typeface="Calibri" pitchFamily="34" charset="0"/>
                <a:ea typeface="Calibri" pitchFamily="34" charset="-122"/>
                <a:cs typeface="Calibri" pitchFamily="34" charset="-120"/>
              </a:rPr>
              <a:t>FUNDRAISING</a:t>
            </a:r>
            <a:endParaRPr lang="en-US" sz="1200" dirty="0"/>
          </a:p>
        </p:txBody>
      </p:sp>
      <p:sp>
        <p:nvSpPr>
          <p:cNvPr id="3" name="Text 1"/>
          <p:cNvSpPr txBox="1"/>
          <p:nvPr/>
        </p:nvSpPr>
        <p:spPr>
          <a:xfrm>
            <a:off x="548640" y="74980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Fund Ask &amp; Utilization of Funds</a:t>
            </a:r>
            <a:endParaRPr lang="en-US" sz="3200" dirty="0"/>
          </a:p>
        </p:txBody>
      </p:sp>
      <p:sp>
        <p:nvSpPr>
          <p:cNvPr id="8" name="Text 5"/>
          <p:cNvSpPr txBox="1"/>
          <p:nvPr/>
        </p:nvSpPr>
        <p:spPr>
          <a:xfrm>
            <a:off x="914400" y="3566160"/>
            <a:ext cx="3474720" cy="68580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$250K Genesis round</a:t>
            </a:r>
            <a:endParaRPr lang="en-US" sz="3800" dirty="0"/>
          </a:p>
        </p:txBody>
      </p:sp>
      <p:sp>
        <p:nvSpPr>
          <p:cNvPr id="11" name="Text 8"/>
          <p:cNvSpPr txBox="1"/>
          <p:nvPr/>
        </p:nvSpPr>
        <p:spPr>
          <a:xfrm>
            <a:off x="10378440" y="2011680"/>
            <a:ext cx="502920" cy="274320"/>
          </a:xfrm>
          <a:prstGeom prst="rect">
            <a:avLst/>
          </a:prstGeom>
          <a:noFill/>
          <a:ln/>
        </p:spPr>
        <p:txBody>
          <a:bodyPr wrap="square" lIns="0" tIns="0" rIns="0" bIns="0" rtlCol="0" anchor="ctr"/>
          <a:lstStyle/>
          <a:p>
            <a:pPr marL="0" indent="0" algn="r">
              <a:buNone/>
            </a:pPr>
            <a:endParaRPr lang="en-US" sz="1250" dirty="0"/>
          </a:p>
        </p:txBody>
      </p:sp>
      <p:sp>
        <p:nvSpPr>
          <p:cNvPr id="27" name="Text 24"/>
          <p:cNvSpPr txBox="1"/>
          <p:nvPr/>
        </p:nvSpPr>
        <p:spPr>
          <a:xfrm>
            <a:off x="548640" y="6446520"/>
            <a:ext cx="914400" cy="274320"/>
          </a:xfrm>
          <a:prstGeom prst="rect">
            <a:avLst/>
          </a:prstGeom>
          <a:noFill/>
          <a:ln/>
        </p:spPr>
        <p:txBody>
          <a:bodyPr wrap="square" lIns="0" tIns="0" rIns="0" bIns="0" rtlCol="0" anchor="ctr"/>
          <a:lstStyle/>
          <a:p>
            <a:pPr marL="0" indent="0">
              <a:buNone/>
            </a:pPr>
            <a:r>
              <a:rPr lang="en-US" sz="900" dirty="0">
                <a:solidFill>
                  <a:srgbClr val="A7B1C9"/>
                </a:solidFill>
                <a:latin typeface="Calibri" pitchFamily="34" charset="0"/>
                <a:ea typeface="Calibri" pitchFamily="34" charset="-122"/>
                <a:cs typeface="Calibri" pitchFamily="34" charset="-120"/>
              </a:rPr>
              <a:t>11</a:t>
            </a:r>
            <a:endParaRPr lang="en-US" sz="900" dirty="0"/>
          </a:p>
        </p:txBody>
      </p:sp>
      <p:sp>
        <p:nvSpPr>
          <p:cNvPr id="28" name="Text 25"/>
          <p:cNvSpPr txBox="1"/>
          <p:nvPr/>
        </p:nvSpPr>
        <p:spPr>
          <a:xfrm>
            <a:off x="8074152" y="6446520"/>
            <a:ext cx="3657600" cy="274320"/>
          </a:xfrm>
          <a:prstGeom prst="rect">
            <a:avLst/>
          </a:prstGeom>
          <a:noFill/>
          <a:ln/>
        </p:spPr>
        <p:txBody>
          <a:bodyPr wrap="square" lIns="0" tIns="0" rIns="0" bIns="0" rtlCol="0" anchor="ctr"/>
          <a:lstStyle/>
          <a:p>
            <a:pPr marL="0" indent="0" algn="r">
              <a:buNone/>
            </a:pPr>
            <a:r>
              <a:rPr lang="en-US" sz="900" kern="0" spc="100" dirty="0">
                <a:solidFill>
                  <a:srgbClr val="A7B1C9"/>
                </a:solidFill>
                <a:latin typeface="Calibri" pitchFamily="34" charset="0"/>
                <a:ea typeface="Calibri" pitchFamily="34" charset="-122"/>
                <a:cs typeface="Calibri" pitchFamily="34" charset="-120"/>
              </a:rPr>
              <a:t>ASK &amp; FUND UTILIZATION</a:t>
            </a:r>
            <a:endParaRPr lang="en-US" sz="900" dirty="0"/>
          </a:p>
        </p:txBody>
      </p:sp>
      <p:sp>
        <p:nvSpPr>
          <p:cNvPr id="900" name="Added text"/>
          <p:cNvSpPr/>
          <p:nvPr>
            <p:txBox/>
          </p:nvPr>
        </p:nvSpPr>
        <p:spPr>
          <a:xfrm>
            <a:off x="5200000" y="1750000"/>
            <a:ext cx="4800000" cy="3000000"/>
          </a:xfrm>
          <a:noFill/>
          <a:ln>
            <a:noFill/>
          </a:ln>
        </p:spPr>
        <p:txBody>
          <a:bodyPr wrap="square" anchor="t"/>
          <a:lstStyle/>
          <a:p>
            <a:r>
              <a:rPr lang="en-US" sz="1700" b="0">
                <a:solidFill>
                  <a:srgbClr val="202020"/>
                </a:solidFill>
                <a:latin typeface="Aptos"/>
              </a:rPr>
              <a:t>40%  Pilot deployments</a:t>
            </a:r>
            <a:endParaRPr lang="en-US" sz="1700"/>
          </a:p>
          <a:p>
            <a:r>
              <a:rPr lang="en-US" sz="1700" b="0">
                <a:solidFill>
                  <a:srgbClr val="202020"/>
                </a:solidFill>
                <a:latin typeface="Aptos"/>
              </a:rPr>
              <a:t>30%  Routing intelligence and benchmarks</a:t>
            </a:r>
            <a:endParaRPr lang="en-US" sz="1700"/>
          </a:p>
          <a:p>
            <a:r>
              <a:rPr lang="en-US" sz="1700" b="0">
                <a:solidFill>
                  <a:srgbClr val="202020"/>
                </a:solidFill>
                <a:latin typeface="Aptos"/>
              </a:rPr>
              <a:t>20%  Reliability, security, and enterprise controls</a:t>
            </a:r>
            <a:endParaRPr lang="en-US" sz="1700"/>
          </a:p>
          <a:p>
            <a:r>
              <a:rPr lang="en-US" sz="1700" b="0">
                <a:solidFill>
                  <a:srgbClr val="202020"/>
                </a:solidFill>
                <a:latin typeface="Aptos"/>
              </a:rPr>
              <a:t>10%  GTM, ROI tooling, and case studies</a:t>
            </a:r>
            <a:endParaRPr lang="en-US" sz="17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00" b="1" kern="0" spc="150" dirty="0">
                <a:solidFill>
                  <a:srgbClr val="3E5C9A"/>
                </a:solidFill>
                <a:latin typeface="Calibri" pitchFamily="34" charset="0"/>
                <a:ea typeface="Calibri" pitchFamily="34" charset="-122"/>
                <a:cs typeface="Calibri" pitchFamily="34" charset="-120"/>
              </a:rPr>
              <a:t>HOW WE MAKE MONEY</a:t>
            </a:r>
            <a:endParaRPr lang="en-US" sz="1200" dirty="0"/>
          </a:p>
        </p:txBody>
      </p:sp>
      <p:sp>
        <p:nvSpPr>
          <p:cNvPr id="3" name="Text 1"/>
          <p:cNvSpPr txBox="1"/>
          <p:nvPr/>
        </p:nvSpPr>
        <p:spPr>
          <a:xfrm>
            <a:off x="548640" y="74980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Business &amp; Revenue Model</a:t>
            </a:r>
            <a:endParaRPr lang="en-US" sz="3200" dirty="0"/>
          </a:p>
        </p:txBody>
      </p:sp>
      <p:sp>
        <p:nvSpPr>
          <p:cNvPr id="6" name="Text 3"/>
          <p:cNvSpPr txBox="1"/>
          <p:nvPr/>
        </p:nvSpPr>
        <p:spPr>
          <a:xfrm>
            <a:off x="1691640" y="1965960"/>
            <a:ext cx="9692640" cy="685800"/>
          </a:xfrm>
          <a:prstGeom prst="rect">
            <a:avLst/>
          </a:prstGeom>
          <a:noFill/>
          <a:ln/>
        </p:spPr>
        <p:txBody>
          <a:bodyPr wrap="square" lIns="0" tIns="0" rIns="0" bIns="0" rtlCol="0" anchor="ctr"/>
          <a:lstStyle/>
          <a:p>
            <a:pPr marL="0" indent="0">
              <a:buNone/>
            </a:pPr>
            <a:r>
              <a:rPr lang="en-US" sz="1400" i="1" dirty="0">
                <a:solidFill>
                  <a:srgbClr val="5B6785"/>
                </a:solidFill>
                <a:latin typeface="Calibri" pitchFamily="34" charset="0"/>
                <a:ea typeface="Calibri" pitchFamily="34" charset="-122"/>
                <a:cs typeface="Calibri" pitchFamily="34" charset="-120"/>
              </a:rPr>
              <a:t>Usage-based gateway fees plus recurring SaaS subscriptions for analytics, governance, routing policies, and enterprise support.</a:t>
            </a:r>
            <a:endParaRPr lang="en-US" sz="1400" dirty="0"/>
          </a:p>
        </p:txBody>
      </p:sp>
      <p:sp>
        <p:nvSpPr>
          <p:cNvPr id="22" name="Text 19"/>
          <p:cNvSpPr txBox="1"/>
          <p:nvPr/>
        </p:nvSpPr>
        <p:spPr>
          <a:xfrm>
            <a:off x="548640" y="6446520"/>
            <a:ext cx="914400" cy="274320"/>
          </a:xfrm>
          <a:prstGeom prst="rect">
            <a:avLst/>
          </a:prstGeom>
          <a:noFill/>
          <a:ln/>
        </p:spPr>
        <p:txBody>
          <a:bodyPr wrap="square" lIns="0" tIns="0" rIns="0" bIns="0" rtlCol="0" anchor="ctr"/>
          <a:lstStyle/>
          <a:p>
            <a:pPr marL="0" indent="0">
              <a:buNone/>
            </a:pPr>
            <a:r>
              <a:rPr lang="en-US" sz="900" dirty="0">
                <a:solidFill>
                  <a:srgbClr val="A7B1C9"/>
                </a:solidFill>
                <a:latin typeface="Calibri" pitchFamily="34" charset="0"/>
                <a:ea typeface="Calibri" pitchFamily="34" charset="-122"/>
                <a:cs typeface="Calibri" pitchFamily="34" charset="-120"/>
              </a:rPr>
              <a:t>12</a:t>
            </a:r>
            <a:endParaRPr lang="en-US" sz="900" dirty="0"/>
          </a:p>
        </p:txBody>
      </p:sp>
      <p:sp>
        <p:nvSpPr>
          <p:cNvPr id="23" name="Text 20"/>
          <p:cNvSpPr txBox="1"/>
          <p:nvPr/>
        </p:nvSpPr>
        <p:spPr>
          <a:xfrm>
            <a:off x="8074152" y="6446520"/>
            <a:ext cx="3657600" cy="274320"/>
          </a:xfrm>
          <a:prstGeom prst="rect">
            <a:avLst/>
          </a:prstGeom>
          <a:noFill/>
          <a:ln/>
        </p:spPr>
        <p:txBody>
          <a:bodyPr wrap="square" lIns="0" tIns="0" rIns="0" bIns="0" rtlCol="0" anchor="ctr"/>
          <a:lstStyle/>
          <a:p>
            <a:pPr marL="0" indent="0" algn="r">
              <a:buNone/>
            </a:pPr>
            <a:r>
              <a:rPr lang="en-US" sz="900" kern="0" spc="100" dirty="0">
                <a:solidFill>
                  <a:srgbClr val="A7B1C9"/>
                </a:solidFill>
                <a:latin typeface="Calibri" pitchFamily="34" charset="0"/>
                <a:ea typeface="Calibri" pitchFamily="34" charset="-122"/>
                <a:cs typeface="Calibri" pitchFamily="34" charset="-120"/>
              </a:rPr>
              <a:t>BUSINESS &amp; REVENUE MODEL</a:t>
            </a:r>
            <a:endParaRPr lang="en-US" sz="900" dirty="0"/>
          </a:p>
        </p:txBody>
      </p:sp>
      <p:sp>
        <p:nvSpPr>
          <p:cNvPr id="900" name="Added text"/>
          <p:cNvSpPr/>
          <p:nvPr>
            <p:txBox/>
          </p:nvPr>
        </p:nvSpPr>
        <p:spPr>
          <a:xfrm>
            <a:off x="1100000" y="1900000"/>
            <a:ext cx="9500000" cy="2200000"/>
          </a:xfrm>
          <a:noFill/>
          <a:ln>
            <a:noFill/>
          </a:ln>
        </p:spPr>
        <p:txBody>
          <a:bodyPr wrap="square" anchor="t"/>
          <a:lstStyle/>
          <a:p>
            <a:r>
              <a:rPr lang="en-US" sz="1800" b="0">
                <a:solidFill>
                  <a:srgbClr val="202020"/>
                </a:solidFill>
                <a:latin typeface="Aptos"/>
              </a:rPr>
              <a:t>Gateway: usage-based fees for routed requests.</a:t>
            </a:r>
            <a:endParaRPr lang="en-US" sz="1800"/>
          </a:p>
          <a:p>
            <a:r>
              <a:rPr lang="en-US" sz="1800" b="0">
                <a:solidFill>
                  <a:srgbClr val="202020"/>
                </a:solidFill>
                <a:latin typeface="Aptos"/>
              </a:rPr>
              <a:t>Scale: monthly SaaS plans for analytics, budgets, and policies.</a:t>
            </a:r>
            <a:endParaRPr lang="en-US" sz="1800"/>
          </a:p>
          <a:p>
            <a:r>
              <a:rPr lang="en-US" sz="1800" b="0">
                <a:solidFill>
                  <a:srgbClr val="202020"/>
                </a:solidFill>
                <a:latin typeface="Aptos"/>
              </a:rPr>
              <a:t>Enterprise: annual contracts for private deployment, SLAs, and support.</a:t>
            </a:r>
            <a:endParaRPr lang="en-US"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371600" y="-1645920"/>
            <a:ext cx="4114800" cy="4114800"/>
          </a:xfrm>
          <a:prstGeom prst="ellipse">
            <a:avLst/>
          </a:prstGeom>
          <a:solidFill>
            <a:srgbClr val="141A47"/>
          </a:solidFill>
          <a:ln/>
        </p:spPr>
      </p:sp>
      <p:sp>
        <p:nvSpPr>
          <p:cNvPr id="3" name="Shape 1"/>
          <p:cNvSpPr/>
          <p:nvPr/>
        </p:nvSpPr>
        <p:spPr>
          <a:xfrm>
            <a:off x="9601200" y="4754880"/>
            <a:ext cx="3840480" cy="3840480"/>
          </a:xfrm>
          <a:prstGeom prst="ellipse">
            <a:avLst/>
          </a:prstGeom>
          <a:solidFill>
            <a:srgbClr val="141A47"/>
          </a:solidFill>
          <a:ln/>
        </p:spPr>
      </p:sp>
      <p:sp>
        <p:nvSpPr>
          <p:cNvPr id="4" name="Text 2"/>
          <p:cNvSpPr txBox="1"/>
          <p:nvPr/>
        </p:nvSpPr>
        <p:spPr>
          <a:xfrm>
            <a:off x="548640" y="2468880"/>
            <a:ext cx="91440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txBox="1"/>
          <p:nvPr/>
        </p:nvSpPr>
        <p:spPr>
          <a:xfrm>
            <a:off x="548640" y="3429000"/>
            <a:ext cx="9144000" cy="41148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TrimToken AI  ·  Genesis Program</a:t>
            </a:r>
            <a:endParaRPr lang="en-US" sz="1600" dirty="0"/>
          </a:p>
        </p:txBody>
      </p:sp>
      <p:sp>
        <p:nvSpPr>
          <p:cNvPr id="6" name="Text 4"/>
          <p:cNvSpPr txBox="1"/>
          <p:nvPr/>
        </p:nvSpPr>
        <p:spPr>
          <a:xfrm>
            <a:off x="548640" y="3840480"/>
            <a:ext cx="9144000" cy="365760"/>
          </a:xfrm>
          <a:prstGeom prst="rect">
            <a:avLst/>
          </a:prstGeom>
          <a:noFill/>
          <a:ln/>
        </p:spPr>
        <p:txBody>
          <a:bodyPr wrap="square" lIns="0" tIns="0" rIns="0" bIns="0" rtlCol="0" anchor="ctr"/>
          <a:lstStyle/>
          <a:p>
            <a:pPr marL="0" indent="0">
              <a:buNone/>
            </a:pPr>
            <a:r>
              <a:rPr lang="en-US" sz="1300" dirty="0">
                <a:solidFill>
                  <a:srgbClr val="AEB9DC"/>
                </a:solidFill>
                <a:latin typeface="Calibri" pitchFamily="34" charset="0"/>
                <a:ea typeface="Calibri" pitchFamily="34" charset="-122"/>
                <a:cs typeface="Calibri" pitchFamily="34" charset="-120"/>
              </a:rPr>
              <a:t>TrimToken AI  ·  Genesis Program
Contact details to be finalized</a:t>
            </a:r>
            <a:endParaRPr lang="en-US" sz="1300" dirty="0"/>
          </a:p>
        </p:txBody>
      </p:sp>
      <p:sp>
        <p:nvSpPr>
          <p:cNvPr id="7" name="Text 5"/>
          <p:cNvSpPr txBox="1"/>
          <p:nvPr/>
        </p:nvSpPr>
        <p:spPr>
          <a:xfrm>
            <a:off x="548640" y="6446520"/>
            <a:ext cx="914400" cy="274320"/>
          </a:xfrm>
          <a:prstGeom prst="rect">
            <a:avLst/>
          </a:prstGeom>
          <a:noFill/>
          <a:ln/>
        </p:spPr>
        <p:txBody>
          <a:bodyPr wrap="square" lIns="0" tIns="0" rIns="0" bIns="0" rtlCol="0" anchor="ctr"/>
          <a:lstStyle/>
          <a:p>
            <a:pPr marL="0" indent="0">
              <a:buNone/>
            </a:pPr>
            <a:r>
              <a:rPr lang="en-US" sz="900" dirty="0">
                <a:solidFill>
                  <a:srgbClr val="8C9BC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TotalTime>
  <Words>349</Words>
  <Application>Microsoft Office PowerPoint</Application>
  <PresentationFormat>Widescreen</PresentationFormat>
  <Paragraphs>79</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Startup Pitch Deck Template</dc:title>
  <dc:subject>PptxGenJS Presentation</dc:subject>
  <dc:creator>Pitch Deck Template</dc:creator>
  <cp:lastModifiedBy>Prashant Kourav</cp:lastModifiedBy>
  <cp:revision>3</cp:revision>
  <dcterms:created xsi:type="dcterms:W3CDTF">2026-09-16T05:42:10Z</dcterms:created>
  <dcterms:modified xsi:type="dcterms:W3CDTF">2026-09-16T10:50:06Z</dcterms:modified>
</cp:coreProperties>
</file>