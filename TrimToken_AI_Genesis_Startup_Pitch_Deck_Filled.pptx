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438912"/>
            <a:ext cx="1234440" cy="384048"/>
          </a:xfrm>
          <a:prstGeom prst="roundRect">
            <a:avLst/>
          </a:prstGeom>
          <a:solidFill>
            <a:srgbClr val="121B25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6634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E0FF"/>
                </a:solidFill>
                <a:latin typeface="Aptos"/>
              </a:rPr>
              <a:t>THE 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1430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4B0BE"/>
                </a:solidFill>
                <a:latin typeface="Aptos"/>
              </a:rPr>
              <a:t>We asked a simple question: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1600200"/>
            <a:ext cx="6126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4F7FA"/>
                </a:solidFill>
                <a:latin typeface="Aptos"/>
              </a:rPr>
              <a:t>Why pay a premium
for every AI question?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3246120"/>
            <a:ext cx="5897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B0BE"/>
                </a:solidFill>
                <a:latin typeface="Aptos"/>
              </a:rPr>
              <a:t>Companies increasingly use AI for everything from routine tasks to complex reasoning. But the model that is right for a difficult problem is often unnecessary for an easy 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1188720"/>
            <a:ext cx="4069080" cy="4160520"/>
          </a:xfrm>
          <a:prstGeom prst="roundRect">
            <a:avLst/>
          </a:prstGeom>
          <a:solidFill>
            <a:srgbClr val="121B25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2" y="15727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FF5C"/>
                </a:solidFill>
                <a:latin typeface="Aptos"/>
              </a:rPr>
              <a:t>THE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2121408"/>
            <a:ext cx="1554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Aptos"/>
              </a:rPr>
              <a:t>Easy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07568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E0FF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121408"/>
            <a:ext cx="1417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FF5C"/>
                </a:solidFill>
                <a:latin typeface="Aptos"/>
              </a:rPr>
              <a:t>Cheaper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2971800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A"/>
                </a:solidFill>
                <a:latin typeface="Aptos"/>
              </a:rPr>
              <a:t>Complex 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9260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E0FF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971800"/>
            <a:ext cx="1417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479FF"/>
                </a:solidFill>
                <a:latin typeface="Aptos"/>
              </a:rPr>
              <a:t>Powerful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3977639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One gateway can make that decision automatically.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4846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E0FF"/>
                </a:solidFill>
                <a:latin typeface="Aptos"/>
              </a:rPr>
              <a:t>That became TrimToken AI.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01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850000" y="2500000"/>
            <a:ext cx="10000000" cy="12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2200" b="1">
                <a:solidFill>
                  <a:srgbClr val="202020"/>
                </a:solidFill>
                <a:latin typeface="Aptos"/>
              </a:rPr>
              <a:t>Cost-aware routing for every AI application</a:t>
            </a:r>
            <a:endParaRPr lang="en-US" sz="2200"/>
          </a:p>
          <a:p>
            <a:r>
              <a:rPr lang="en-US" sz="2200" b="1">
                <a:solidFill>
                  <a:srgbClr val="202020"/>
                </a:solidFill>
                <a:latin typeface="Aptos"/>
              </a:rPr>
              <a:t>One gateway. The right model for every request.</a:t>
            </a:r>
            <a:endParaRPr lang="en-US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THE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713232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"/>
              </a:rPr>
              <a:t>AI adoption is growing. So is the cost of every unnecessary premium inference.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57276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The business problem is not “AI is expensive.” It is that AI spend is often poorly matched to task difficulty.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240280"/>
            <a:ext cx="3401568" cy="29718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25146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E0FF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01752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Same model for different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79476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A routine lookup and a complex reasoning task can end up using the same expensive model.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2240280"/>
            <a:ext cx="3401568" cy="29718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25146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337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301752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More usage = more exposure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6864" y="379476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As AI becomes embedded in products and operations, small inefficiencies repeat at scale.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3024" y="2240280"/>
            <a:ext cx="3401568" cy="29718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25146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8FF5C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017520"/>
            <a:ext cx="2880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Choices keep changing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79476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Model prices, speed and capabilities change — making manual model selection difficult.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5321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FF5C"/>
                </a:solidFill>
                <a:latin typeface="Aptos"/>
              </a:rPr>
              <a:t>The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458968"/>
            <a:ext cx="9418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"/>
              </a:rPr>
              <a:t>A neutral decision layer between the application and the model providers.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02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900000" y="2500000"/>
            <a:ext cx="10500000" cy="19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450" b="0">
                <a:solidFill>
                  <a:srgbClr val="202020"/>
                </a:solidFill>
                <a:latin typeface="Aptos"/>
              </a:rPr>
              <a:t>01  Same model for different jobs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02  More usage means more cost exposure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03  Model prices, speed and capabilities keep changing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/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THE GAP: a neutral decision layer between the application and model providers.</a:t>
            </a:r>
            <a:endParaRPr lang="en-US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THE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713232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"/>
              </a:rPr>
              <a:t>TrimToken AI turns model selection into infrastructure.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57276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A gateway that evaluates the request, chooses an appropriate model, and keeps a fallback path available.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2331720"/>
            <a:ext cx="3063240" cy="1554480"/>
          </a:xfrm>
          <a:prstGeom prst="roundRect">
            <a:avLst/>
          </a:prstGeom>
          <a:solidFill>
            <a:srgbClr val="121B25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263347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0E0FF"/>
                </a:solidFill>
                <a:latin typeface="Aptos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127248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A"/>
                </a:solidFill>
                <a:latin typeface="Aptos"/>
              </a:rPr>
              <a:t>Your existing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9352" y="27889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E0FF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331720"/>
            <a:ext cx="3063240" cy="1554480"/>
          </a:xfrm>
          <a:prstGeom prst="roundRect">
            <a:avLst/>
          </a:prstGeom>
          <a:solidFill>
            <a:srgbClr val="121B25"/>
          </a:solidFill>
          <a:ln w="12700">
            <a:solidFill>
              <a:srgbClr val="28F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263347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8FF5C"/>
                </a:solidFill>
                <a:latin typeface="Aptos"/>
              </a:rPr>
              <a:t>TRIMTOKEN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127248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A"/>
                </a:solidFill>
                <a:latin typeface="Aptos"/>
              </a:rPr>
              <a:t>Routes the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278892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0E0FF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331720"/>
            <a:ext cx="3063240" cy="1554480"/>
          </a:xfrm>
          <a:prstGeom prst="roundRect">
            <a:avLst/>
          </a:prstGeom>
          <a:solidFill>
            <a:srgbClr val="121B25"/>
          </a:solidFill>
          <a:ln w="12700">
            <a:solidFill>
              <a:srgbClr val="A4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2633472"/>
            <a:ext cx="2724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A479FF"/>
                </a:solidFill>
                <a:latin typeface="Aptos"/>
              </a:rPr>
              <a:t>MODEL POOL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127248"/>
            <a:ext cx="2697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7FA"/>
                </a:solidFill>
                <a:latin typeface="Aptos"/>
              </a:rPr>
              <a:t>Multiple model options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08760" y="4343400"/>
            <a:ext cx="9189720" cy="1078992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28F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45537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FF5C"/>
                </a:solidFill>
                <a:latin typeface="Aptos"/>
              </a:rPr>
              <a:t>BUSINESS OUTCOME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471416"/>
            <a:ext cx="6949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"/>
              </a:rPr>
              <a:t>Use lower-cost inference when appropriate, while preserving access to stronger models when needed.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03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900000" y="1900000"/>
            <a:ext cx="10500000" cy="23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700" b="0">
                <a:solidFill>
                  <a:srgbClr val="202020"/>
                </a:solidFill>
                <a:latin typeface="Aptos"/>
              </a:rPr>
              <a:t>APPLICATION  →  TRIMTOKEN AI  →  MODEL POOL</a:t>
            </a:r>
            <a:endParaRPr lang="en-US" sz="1700"/>
          </a:p>
          <a:p>
            <a:r>
              <a:rPr lang="en-US" sz="1700" b="0">
                <a:solidFill>
                  <a:srgbClr val="202020"/>
                </a:solidFill>
                <a:latin typeface="Aptos"/>
              </a:rPr>
              <a:t>Your existing app      Routes the request      Multiple model options</a:t>
            </a:r>
            <a:endParaRPr lang="en-US" sz="1700"/>
          </a:p>
          <a:p>
            <a:r>
              <a:rPr lang="en-US" sz="1700" b="0">
                <a:solidFill>
                  <a:srgbClr val="202020"/>
                </a:solidFill>
                <a:latin typeface="Aptos"/>
              </a:rPr>
              <a:t/>
            </a:r>
            <a:endParaRPr lang="en-US" sz="1700"/>
          </a:p>
          <a:p>
            <a:r>
              <a:rPr lang="en-US" sz="1700" b="0">
                <a:solidFill>
                  <a:srgbClr val="202020"/>
                </a:solidFill>
                <a:latin typeface="Aptos"/>
              </a:rPr>
              <a:t>Business outcome: use lower-cost inference when appropriate while preserving access to stronger models when needed.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HOW IT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713232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"/>
              </a:rPr>
              <a:t>Simple on the outside. Intelligent underneath.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57276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Only one slide goes deep on technology — enough to understand the moat without turning the pitch into an engineering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148840"/>
            <a:ext cx="2487168" cy="2286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239572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E0FF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8529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"/>
              </a:rPr>
              <a:t>UNDERSTAND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383280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0BE"/>
                </a:solidFill>
                <a:latin typeface="Aptos"/>
              </a:rPr>
              <a:t>Estimate how demanding the request is.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3008" y="2148840"/>
            <a:ext cx="2487168" cy="2286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28F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239572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8FF5C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28529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"/>
              </a:rPr>
              <a:t>CHOOSE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383280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0BE"/>
                </a:solidFill>
                <a:latin typeface="Aptos"/>
              </a:rPr>
              <a:t>Match it to an available model tier.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2148840"/>
            <a:ext cx="2487168" cy="2286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FFC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39572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C337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8529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383280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0BE"/>
                </a:solidFill>
                <a:latin typeface="Aptos"/>
              </a:rPr>
              <a:t>Measure quality, latency and cost.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62288" y="2148840"/>
            <a:ext cx="2487168" cy="2286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A4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239572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479FF"/>
                </a:solidFill>
                <a:latin typeface="Apto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852928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"/>
              </a:rPr>
              <a:t>FALL 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383280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0BE"/>
                </a:solidFill>
                <a:latin typeface="Aptos"/>
              </a:rPr>
              <a:t>Escalate when the primary route is not suitable.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89204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Current technical direction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818888"/>
            <a:ext cx="8686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"/>
              </a:rPr>
              <a:t>k-NN-based complexity routing is the current baseline; future models can be added as more labeled workload data is collected.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04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850000" y="1600000"/>
            <a:ext cx="10500000" cy="33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500" b="0">
                <a:solidFill>
                  <a:srgbClr val="202020"/>
                </a:solidFill>
                <a:latin typeface="Aptos"/>
              </a:rPr>
              <a:t>01  UNDERSTAND  Estimate request difficulty</a:t>
            </a:r>
            <a:endParaRPr lang="en-US" sz="1500"/>
          </a:p>
          <a:p>
            <a:r>
              <a:rPr lang="en-US" sz="1500" b="0">
                <a:solidFill>
                  <a:srgbClr val="202020"/>
                </a:solidFill>
                <a:latin typeface="Aptos"/>
              </a:rPr>
              <a:t>02  CHOOSE      Match to an available model tier</a:t>
            </a:r>
            <a:endParaRPr lang="en-US" sz="1500"/>
          </a:p>
          <a:p>
            <a:r>
              <a:rPr lang="en-US" sz="1500" b="0">
                <a:solidFill>
                  <a:srgbClr val="202020"/>
                </a:solidFill>
                <a:latin typeface="Aptos"/>
              </a:rPr>
              <a:t>03  VERIFY      Measure quality, latency and cost</a:t>
            </a:r>
            <a:endParaRPr lang="en-US" sz="1500"/>
          </a:p>
          <a:p>
            <a:r>
              <a:rPr lang="en-US" sz="1500" b="0">
                <a:solidFill>
                  <a:srgbClr val="202020"/>
                </a:solidFill>
                <a:latin typeface="Aptos"/>
              </a:rPr>
              <a:t>04  FALL BACK   Escalate when the primary route is not suitable</a:t>
            </a:r>
            <a:endParaRPr lang="en-US" sz="1500"/>
          </a:p>
          <a:p>
            <a:r>
              <a:rPr lang="en-US" sz="1500" b="0">
                <a:solidFill>
                  <a:srgbClr val="202020"/>
                </a:solidFill>
                <a:latin typeface="Aptos"/>
              </a:rPr>
              <a:t/>
            </a:r>
            <a:endParaRPr lang="en-US" sz="1500"/>
          </a:p>
          <a:p>
            <a:r>
              <a:rPr lang="en-US" sz="1500" b="0">
                <a:solidFill>
                  <a:srgbClr val="202020"/>
                </a:solidFill>
                <a:latin typeface="Aptos"/>
              </a:rPr>
              <a:t>Current baseline: k-NN complexity routing. Next: embeddings, live cost, latency and workload signals.</a:t>
            </a:r>
            <a:endParaRPr lang="en-US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PRODUCT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713232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"/>
              </a:rPr>
              <a:t>The product is already a working gateway — the next step is to make routing smarter and measurable.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57276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Current build: web dashboard + API gateway + multi-model routing + observability.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148840"/>
            <a:ext cx="25603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2286000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0E0FF"/>
                </a:solidFill>
                <a:latin typeface="Aptos"/>
              </a:rPr>
              <a:t>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80720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4B0BE"/>
                </a:solidFill>
                <a:latin typeface="Aptos"/>
              </a:rPr>
              <a:t>Working web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2148840"/>
            <a:ext cx="25603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5304" y="2286000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8FF5C"/>
                </a:solidFill>
                <a:latin typeface="Aptos"/>
              </a:rPr>
              <a:t>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5304" y="280720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4B0BE"/>
                </a:solidFill>
                <a:latin typeface="Aptos"/>
              </a:rPr>
              <a:t>OpenAI-compatible gateway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6" y="2148840"/>
            <a:ext cx="25603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286000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A479FF"/>
                </a:solidFill>
                <a:latin typeface="Aptos"/>
              </a:rPr>
              <a:t>MULTI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80720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4B0BE"/>
                </a:solidFill>
                <a:latin typeface="Aptos"/>
              </a:rPr>
              <a:t>Multiple model paths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400" y="2148840"/>
            <a:ext cx="25603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2286000"/>
            <a:ext cx="2231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C337"/>
                </a:solidFill>
                <a:latin typeface="Aptos"/>
              </a:rPr>
              <a:t>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2807208"/>
            <a:ext cx="2231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A4B0BE"/>
                </a:solidFill>
                <a:latin typeface="Aptos"/>
              </a:rPr>
              <a:t>Routing + usage signals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3886200"/>
            <a:ext cx="5166360" cy="155448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133087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WHAT EXISTS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7FA"/>
                </a:solidFill>
                <a:latin typeface="Aptos"/>
              </a:rPr>
              <a:t>A usable product surface for querying, routing and monitoring AI workloads.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53328" y="3886200"/>
            <a:ext cx="5422392" cy="155448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133087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8FF5C"/>
                </a:solidFill>
                <a:latin typeface="Aptos"/>
              </a:rPr>
              <a:t>WHAT WE ARE BUILDING NEXT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4590288"/>
            <a:ext cx="4663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4F7FA"/>
                </a:solidFill>
                <a:latin typeface="Aptos"/>
              </a:rPr>
              <a:t>A trained routing layer that learns from real workload examples instead of relying only on an LLM to make the routing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05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800000" y="1500000"/>
            <a:ext cx="10500000" cy="39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400" b="0">
                <a:solidFill>
                  <a:srgbClr val="202020"/>
                </a:solidFill>
                <a:latin typeface="Aptos"/>
              </a:rPr>
              <a:t>LIVE       Working web dashboard</a:t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>API        OpenAI-compatible gateway</a:t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>MULTI      Multiple model paths</a:t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>DATA       Routing and usage signals</a:t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/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>WHAT EXISTS</a:t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>A usable product surface for querying, routing and monitoring AI workloads.</a:t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/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>WHAT WE BUILD NEXT</a:t>
            </a:r>
            <a:endParaRPr lang="en-US" sz="1400"/>
          </a:p>
          <a:p>
            <a:r>
              <a:rPr lang="en-US" sz="1400" b="0">
                <a:solidFill>
                  <a:srgbClr val="202020"/>
                </a:solidFill>
                <a:latin typeface="Aptos"/>
              </a:rPr>
              <a:t>A trained routing layer that learns from real workload examples instead of relying only on an LLM to make the routing decision.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BUSINESS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713232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"/>
              </a:rPr>
              <a:t>We monetize the infrastructure layer — not the underlying AI models.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57276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The more AI traffic a customer runs, the more valuable automated cost control becomes.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148840"/>
            <a:ext cx="3401568" cy="20574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245059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E0FF"/>
                </a:solidFill>
                <a:latin typeface="Aptos"/>
              </a:rPr>
              <a:t>SAAS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0632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Monthly platform subscription for routing, analytics and controls.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2148840"/>
            <a:ext cx="3401568" cy="20574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28F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245059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FF5C"/>
                </a:solidFill>
                <a:latin typeface="Aptos"/>
              </a:rPr>
              <a:t>USAGE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0632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Usage-based pricing tied to routed requests / token volume.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2148840"/>
            <a:ext cx="3401568" cy="20574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A4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245059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479FF"/>
                </a:solidFill>
                <a:latin typeface="Aptos"/>
              </a:rP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3063240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Custom plans for private deployment, governance and integrations.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617720"/>
            <a:ext cx="10863072" cy="822960"/>
          </a:xfrm>
          <a:prstGeom prst="roundRect">
            <a:avLst/>
          </a:prstGeom>
          <a:solidFill>
            <a:srgbClr val="121B25"/>
          </a:solidFill>
          <a:ln w="12700">
            <a:solidFill>
              <a:srgbClr val="FFC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8463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C337"/>
                </a:solidFill>
                <a:latin typeface="Aptos"/>
              </a:rPr>
              <a:t>VALUE CREATION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764024"/>
            <a:ext cx="85496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4F7FA"/>
                </a:solidFill>
                <a:latin typeface="Aptos"/>
              </a:rPr>
              <a:t>Customer uses more AI → TrimToken manages more decisions → recurring software revenue grows with usage.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06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900000" y="1600000"/>
            <a:ext cx="10200000" cy="35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550" b="0">
                <a:solidFill>
                  <a:srgbClr val="202020"/>
                </a:solidFill>
                <a:latin typeface="Aptos"/>
              </a:rPr>
              <a:t>SAAS       Monthly platform subscription for routing, analytics and controls.</a:t>
            </a:r>
            <a:endParaRPr lang="en-US" sz="1550"/>
          </a:p>
          <a:p>
            <a:r>
              <a:rPr lang="en-US" sz="1550" b="0">
                <a:solidFill>
                  <a:srgbClr val="202020"/>
                </a:solidFill>
                <a:latin typeface="Aptos"/>
              </a:rPr>
              <a:t>USAGE      Pricing tied to routed requests or token volume.</a:t>
            </a:r>
            <a:endParaRPr lang="en-US" sz="1550"/>
          </a:p>
          <a:p>
            <a:r>
              <a:rPr lang="en-US" sz="1550" b="0">
                <a:solidFill>
                  <a:srgbClr val="202020"/>
                </a:solidFill>
                <a:latin typeface="Aptos"/>
              </a:rPr>
              <a:t>ENTERPRISE Custom plans for private deployment, governance and integrations.</a:t>
            </a:r>
            <a:endParaRPr lang="en-US" sz="1550"/>
          </a:p>
          <a:p>
            <a:r>
              <a:rPr lang="en-US" sz="1550" b="0">
                <a:solidFill>
                  <a:srgbClr val="202020"/>
                </a:solidFill>
                <a:latin typeface="Aptos"/>
              </a:rPr>
              <a:t/>
            </a:r>
            <a:endParaRPr lang="en-US" sz="1550"/>
          </a:p>
          <a:p>
            <a:r>
              <a:rPr lang="en-US" sz="1550" b="0">
                <a:solidFill>
                  <a:srgbClr val="202020"/>
                </a:solidFill>
                <a:latin typeface="Aptos"/>
              </a:rPr>
              <a:t>VALUE CREATION</a:t>
            </a:r>
            <a:endParaRPr lang="en-US" sz="1550"/>
          </a:p>
          <a:p>
            <a:r>
              <a:rPr lang="en-US" sz="1550" b="0">
                <a:solidFill>
                  <a:srgbClr val="202020"/>
                </a:solidFill>
                <a:latin typeface="Aptos"/>
              </a:rPr>
              <a:t>Customer uses more AI → TrimToken manages more decisions → recurring software revenue grows with usage.</a:t>
            </a:r>
            <a:endParaRPr lang="en-US"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WHY FUND US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713232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"/>
              </a:rPr>
              <a:t>Capital turns a working product into a validated routing 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57276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The near-term objective is evidence: better routing, real workload data, measurable economics and customer pilots.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148840"/>
            <a:ext cx="50749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233172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0E0FF"/>
                </a:solidFill>
                <a:latin typeface="Aptos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2295144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7FA"/>
                </a:solidFill>
                <a:latin typeface="Aptos"/>
              </a:rPr>
              <a:t>Build a 3k–10k+ labeled routing dataset and evaluation set.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148840"/>
            <a:ext cx="50749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233172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8FF5C"/>
                </a:solidFill>
                <a:latin typeface="Aptos"/>
              </a:rPr>
              <a:t>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2295144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7FA"/>
                </a:solidFill>
                <a:latin typeface="Aptos"/>
              </a:rPr>
              <a:t>Harden the gateway, dashboard and observability for real workloads.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657600"/>
            <a:ext cx="50749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384048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C337"/>
                </a:solidFill>
                <a:latin typeface="Aptos"/>
              </a:rPr>
              <a:t>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9112" y="3803904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7FA"/>
                </a:solidFill>
                <a:latin typeface="Aptos"/>
              </a:rPr>
              <a:t>Benchmark cost, latency and response quality across model choices.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657600"/>
            <a:ext cx="5074920" cy="11430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92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384048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479FF"/>
                </a:solidFill>
                <a:latin typeface="Aptos"/>
              </a:rPr>
              <a:t>GO-TO-MARKET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3803904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4F7FA"/>
                </a:solidFill>
                <a:latin typeface="Aptos"/>
              </a:rPr>
              <a:t>Run pilots with teams that have meaningful AI inference spend.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349240"/>
            <a:ext cx="10561320" cy="530352"/>
          </a:xfrm>
          <a:prstGeom prst="roundRect">
            <a:avLst/>
          </a:prstGeom>
          <a:solidFill>
            <a:srgbClr val="121B25"/>
          </a:solidFill>
          <a:ln w="12700">
            <a:solidFill>
              <a:srgbClr val="28F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77256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4F7FA"/>
                </a:solidFill>
                <a:latin typeface="Aptos"/>
              </a:rPr>
              <a:t>Milestone focus: demonstrate repeatable cost control without sacrificing the quality customers require.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07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800000" y="1500000"/>
            <a:ext cx="10500000" cy="39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450" b="0">
                <a:solidFill>
                  <a:srgbClr val="202020"/>
                </a:solidFill>
                <a:latin typeface="Aptos"/>
              </a:rPr>
              <a:t>DATA          Build a 3k–10k+ labeled routing dataset and evaluation set.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PRODUCT       Harden gateway, dashboard and observability for real workloads.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VALIDATION    Benchmark cost, latency and response quality across model choices.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GO-TO-MARKET  Run pilots with teams that have meaningful AI inference spend.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/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MILESTONE: demonstrate repeatable cost control without sacrificing required quality.</a:t>
            </a:r>
            <a:endParaRPr lang="en-US" sz="1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9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713232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A"/>
                </a:solidFill>
                <a:latin typeface="Aptos"/>
              </a:rPr>
              <a:t>Build the routing engine into a learning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157276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0BE"/>
                </a:solidFill>
                <a:latin typeface="Aptos"/>
              </a:rPr>
              <a:t>The roadmap expands from a strong baseline toward richer, data-driven routing decisions.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148840"/>
            <a:ext cx="2542032" cy="242316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0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3957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E0FF"/>
                </a:solidFill>
                <a:latin typeface="Aptos"/>
              </a:rP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834640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k-NN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493008"/>
            <a:ext cx="2148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0BE"/>
                </a:solidFill>
                <a:latin typeface="Aptos"/>
              </a:rPr>
              <a:t>Current baseline for complexity-based routing.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1272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0BE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2148840"/>
            <a:ext cx="2542032" cy="242316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28F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23957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8FF5C"/>
                </a:solidFill>
                <a:latin typeface="Aptos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2834640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Richer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3493008"/>
            <a:ext cx="2148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0BE"/>
                </a:solidFill>
                <a:latin typeface="Aptos"/>
              </a:rPr>
              <a:t>Embeddings + cost + latency + workload signals.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31272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0BE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2148840"/>
            <a:ext cx="2542032" cy="242316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FFC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23957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C337"/>
                </a:solidFill>
                <a:latin typeface="Aptos"/>
              </a:rPr>
              <a:t>OPTIONAL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2834640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Random Forest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3493008"/>
            <a:ext cx="2148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0BE"/>
                </a:solidFill>
                <a:latin typeface="Aptos"/>
              </a:rPr>
              <a:t>Evaluate an ensemble approach for non-linear decisions.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1272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4B0BE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90304" y="2148840"/>
            <a:ext cx="2542032" cy="242316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A4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4896" y="2395728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79FF"/>
                </a:solidFill>
                <a:latin typeface="Aptos"/>
              </a:rPr>
              <a:t>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54896" y="2834640"/>
            <a:ext cx="2148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A"/>
                </a:solidFill>
                <a:latin typeface="Aptos"/>
              </a:rPr>
              <a:t>Adaptive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4896" y="3493008"/>
            <a:ext cx="2148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0BE"/>
                </a:solidFill>
                <a:latin typeface="Aptos"/>
              </a:rPr>
              <a:t>Continuous evaluation and workload-specific policies.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0749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E0FF"/>
                </a:solidFill>
                <a:latin typeface="Aptos"/>
              </a:rPr>
              <a:t>VISION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4974336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Aptos"/>
              </a:rPr>
              <a:t>Become the decision layer that helps enterprises scale AI usage while controlling inference economics.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8704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FF5C"/>
                </a:solidFill>
                <a:latin typeface="Aptos"/>
              </a:rPr>
              <a:t>TRIMTOKEN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5870448"/>
            <a:ext cx="6400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4B0BE"/>
                </a:solidFill>
                <a:latin typeface="Aptos"/>
              </a:rPr>
              <a:t>Route every query to the right level of intelligence.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0BE"/>
                </a:solidFill>
                <a:latin typeface="Aptos"/>
              </a:rPr>
              <a:t>TRIMTOKEN AI  •  GENESIS PROGRAM  •  YUVRAJ SINGH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0E0FF"/>
                </a:solidFill>
                <a:latin typeface="Aptos"/>
              </a:rPr>
              <a:t>08</a:t>
            </a:r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700000" y="1450000"/>
            <a:ext cx="10800000" cy="41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450" b="0">
                <a:solidFill>
                  <a:srgbClr val="202020"/>
                </a:solidFill>
                <a:latin typeface="Aptos"/>
              </a:rPr>
              <a:t>NOW       k-NN: current baseline for complexity-based routing.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NEXT      Richer features: embeddings + cost + latency + workload signals.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OPTIONAL  Random Forest: evaluate an ensemble for non-linear decisions.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SCALE     Adaptive routing: continuous evaluation and workload-specific policies.</a:t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/>
            </a:r>
            <a:endParaRPr lang="en-US" sz="1450"/>
          </a:p>
          <a:p>
            <a:r>
              <a:rPr lang="en-US" sz="1450" b="0">
                <a:solidFill>
                  <a:srgbClr val="202020"/>
                </a:solidFill>
                <a:latin typeface="Aptos"/>
              </a:rPr>
              <a:t>VISION: become the decision layer that helps enterprises scale AI while controlling inference economics.</a:t>
            </a:r>
            <a:endParaRPr lang="en-US" sz="1450"/>
          </a:p>
        </p:txBody>
      </p:sp>
      <p:sp>
        <p:nvSpPr>
          <p:cNvPr id="900" name="Added content"/>
          <p:cNvSpPr/>
          <p:nvPr>
            <p:txBox/>
          </p:nvPr>
        </p:nvSpPr>
        <p:spPr>
          <a:xfrm>
            <a:off x="700000" y="560000"/>
            <a:ext cx="10800000" cy="500000"/>
          </a:xfrm>
          <a:noFill/>
          <a:ln>
            <a:noFill/>
          </a:ln>
        </p:spPr>
        <p:txBody>
          <a:bodyPr wrap="square" anchor="t"/>
          <a:lstStyle/>
          <a:p>
            <a:r>
              <a:rPr lang="en-US" sz="1500" b="1">
                <a:solidFill>
                  <a:srgbClr val="202020"/>
                </a:solidFill>
                <a:latin typeface="Aptos"/>
              </a:rPr>
              <a:t>Founder: Yuvraj Singh  |  Contact: 9814781886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